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e0db507-e469-2609-33a5-1209305b4af7}">
          <p14:sldIdLst>
            <p14:sldId id="256"/>
          </p14:sldIdLst>
        </p14:section>
        <p14:section name="Problema e solução" id="{65e78c3d-5b76-450e-2cd7-3be572692859}">
          <p14:sldIdLst>
            <p14:sldId id="257"/>
            <p14:sldId id="258"/>
          </p14:sldIdLst>
        </p14:section>
        <p14:section name="Como funciona" id="{ed04a9e5-4c28-f91a-daf0-cec94f52fd17}">
          <p14:sldIdLst>
            <p14:sldId id="259"/>
            <p14:sldId id="260"/>
            <p14:sldId id="261"/>
            <p14:sldId id="262"/>
            <p14:sldId id="263"/>
          </p14:sldIdLst>
        </p14:section>
        <p14:section name="LGPD e situação" id="{2b045f80-d390-fe7f-3694-55982ec9f53d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nome do projeto e o objetivo em uma frase: a pessoa encontra as próprias fotos dos eventos do CESMAC pelo rosto, sem ver as fotos dos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evento pode ter até mil fotos. Hoje, para achar as suas, você olha todas — e quem procura também vê o rosto de todas as outras pessoas.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visitante não precisa de conta. Ele lê o aviso de uso de imagem, tira uma selfie e recebe só as fotos em que aparece. A galeria do evento é privada.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site só conversa com a API. A API é quem fala com o banco, com o reconhecimento facial e com o armazenamento das fotos — e confere a permissão antes. O InsightFace fica atrás de um adaptador: trocar de IA é escrever um adaptador novo, como o professor pediu. O SeaweedFS é o que o servidor do CESMAC já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InsightFace acha o rosto, alinha e transforma em 512 números. Para comparar dois rostos, mede-se o quanto esses vetores apontam para o mesmo lado. Só aparece o que passa de 0,30 — no teste, a foto errada mais alta tirou 0,278.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 sistema, montei uma bancada e comparei 5 tecnologias em 388 fotos reais de formatura, conferindo cada uma à mão. O InsightFace venceu com folga: 7 fotos erradas no topo do ranking contra 203 do segundo. Isso contraria as tabelas publicadas — elas medem rostos recortados, não plateia.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InsightFace também é IA — mas especializada: só faz rosto. Uma IA generativa, como o ChatGPT, foi feita para conversar. Para rodar uma dessas aqui dentro, precisaria de placa de vídeo com 11 a 22 GB; o InsightFace roda no processador com cerca de 1 GB. Ela responde em texto, que muda de uma vez para outra; o InsightFace devolve sempre os mesmos 512 números, calculados uma vez quando a foto é publicada — 0,13 s por foto aqui. Na busca, só se compara a selfie com vetores prontos. E usar uma IA na nuvem seria mandar rosto, dado sensível, para outra empresa fora do Brasil — a LGPD só permite transferência internacional nos casos do Art. 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Espaço do Thiago: imagem do site do InsightFace e explicação da licença. Lembrete do README: os modelos pré-treinados (buffalo_l) são só para pesquisa não comercial; o TCC está coberto, e uma implantação no CESMAC exige licenciar ou trocar o modelo — por isso o adaptador.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rosto é dado biométrico, sensível pela LGPD. Por isso: a selfie nunca é armazenada, nenhum vetor existe antes da publicação, a busca é sempre dentro de um evento, e tudo expira — com remoção a pedido em até 72 horas. Ao sair da página, o resultado também é apagado.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fases 1 e 2 do documento de requisitos estão prontas; a 3 está em andamento. Faltam pessoas institucionais, os registros de uso atípico e a calibragem do limiar com mais pessoas. Tudo é coberto por 125 testes automáticos. Em seguida, o vídeo.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Chamar o vídeo: o fotógrafo publicando um evento, e o visitante encontrando as próprias fotos pela selfie.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thiagojosenunes/FOTOMAC (prototype)/docs/apresentacao/fotomac-simbo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6236208"/>
            <a:ext cx="566928" cy="38218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572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7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572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iagojosenunes/FOTOMAC (prototype)/docs/apresentacao/fotomac-simbo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3291840" cy="2219149"/>
          </a:xfrm>
          <a:prstGeom prst="rect">
            <a:avLst/>
          </a:prstGeom>
        </p:spPr>
      </p:pic>
      <p:pic>
        <p:nvPicPr>
          <p:cNvPr id="3" name="Image 1" descr="FOTOMA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554480"/>
            <a:ext cx="6035040" cy="8417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26280" y="2697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suas histórias no CESMAC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26280" y="32918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Acervo fotográfico com busca por reconhecimento facial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5074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Thiago Nunes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Orientador: Prof. Wagner de Oliveira Lima Palmeira de Araujo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Informação · CESMAC ·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Achar as suas fotos hoje é folhear todas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1.000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em um único evento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Lento para quem procura.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expõe o rosto de todo mundo.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0" y="160020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160020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160020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160020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160020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0" y="160020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0" y="160020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224028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224028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224028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24028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224028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224028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0" y="224028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288036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288036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288036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288036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288036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66960" y="288036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0" y="288036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352044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352044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352044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352044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0" y="352044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007DC5"/>
          </a:solidFill>
          <a:ln w="38100">
            <a:solidFill>
              <a:srgbClr val="FFC5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66960" y="352044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9920" y="352044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416052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416052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416052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416052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0" y="416052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66960" y="416052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789920" y="4160520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4E9ED"/>
          </a:solidFill>
          <a:ln w="12700">
            <a:solidFill>
              <a:srgbClr val="E4E9E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52560" y="4818888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572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selfie, só as suas fotos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20240" y="2148840"/>
            <a:ext cx="1143000" cy="1143000"/>
          </a:xfrm>
          <a:prstGeom prst="ellipse">
            <a:avLst/>
          </a:prstGeom>
          <a:solidFill>
            <a:srgbClr val="007DC5"/>
          </a:solidFill>
          <a:ln w="12700">
            <a:solidFill>
              <a:srgbClr val="007D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920240" y="2148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Estou ciente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14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aviso vem antes de tudo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2720340"/>
            <a:ext cx="1920240" cy="0"/>
          </a:xfrm>
          <a:prstGeom prst="line">
            <a:avLst/>
          </a:prstGeom>
          <a:noFill/>
          <a:ln w="25400">
            <a:solidFill>
              <a:srgbClr val="65727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23560" y="2148840"/>
            <a:ext cx="1143000" cy="1143000"/>
          </a:xfrm>
          <a:prstGeom prst="ellipse">
            <a:avLst/>
          </a:prstGeom>
          <a:solidFill>
            <a:srgbClr val="007DC5"/>
          </a:solidFill>
          <a:ln w="12700">
            <a:solidFill>
              <a:srgbClr val="007D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2148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5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566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Tire uma selfie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4114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envie uma foto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86600" y="2720340"/>
            <a:ext cx="1920240" cy="0"/>
          </a:xfrm>
          <a:prstGeom prst="line">
            <a:avLst/>
          </a:prstGeom>
          <a:noFill/>
          <a:ln w="25400">
            <a:solidFill>
              <a:srgbClr val="65727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326880" y="2148840"/>
            <a:ext cx="1143000" cy="1143000"/>
          </a:xfrm>
          <a:prstGeom prst="ellipse">
            <a:avLst/>
          </a:prstGeom>
          <a:solidFill>
            <a:srgbClr val="23855B"/>
          </a:solidFill>
          <a:ln w="12700">
            <a:solidFill>
              <a:srgbClr val="2385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0" y="2148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566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as suas fotos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114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baixe com o crédito do fotógrafo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66160" y="5257800"/>
            <a:ext cx="5029200" cy="548640"/>
          </a:xfrm>
          <a:prstGeom prst="roundRect">
            <a:avLst>
              <a:gd name="adj" fmla="val 50000"/>
            </a:avLst>
          </a:prstGeom>
          <a:solidFill>
            <a:srgbClr val="E8F5FC"/>
          </a:solidFill>
          <a:ln w="12700">
            <a:solidFill>
              <a:srgbClr val="E8F5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66160" y="5257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vê a galeria inteira do evento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572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peças, cada uma com um papel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270248" y="146304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F5F7F9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70248" y="1463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· Expo</a:t>
            </a:r>
            <a:endParaRPr lang="en-US" sz="1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pessoa vê no navegador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194560" y="2880360"/>
            <a:ext cx="7799832" cy="914400"/>
          </a:xfrm>
          <a:prstGeom prst="roundRect">
            <a:avLst>
              <a:gd name="adj" fmla="val 12000"/>
            </a:avLst>
          </a:prstGeom>
          <a:solidFill>
            <a:srgbClr val="E8F5FC"/>
          </a:solidFill>
          <a:ln w="25400">
            <a:solidFill>
              <a:srgbClr val="007D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94560" y="2880360"/>
            <a:ext cx="7799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· Python + FastAPI</a:t>
            </a:r>
            <a:endParaRPr lang="en-US" sz="1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todo pedido, confere a permissão e decide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E8F7F0"/>
          </a:solidFill>
          <a:ln w="25400">
            <a:solidFill>
              <a:srgbClr val="2385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38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1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 e vetores de rosto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453128" y="452628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1ECFD"/>
          </a:solidFill>
          <a:ln w="25400">
            <a:solidFill>
              <a:srgbClr val="6D28D9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453128" y="4526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InsightFace</a:t>
            </a:r>
            <a:endParaRPr lang="en-US" sz="1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 os rostos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074152" y="452628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25400">
            <a:solidFill>
              <a:srgbClr val="9A65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74152" y="4526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9A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SeaweedFS</a:t>
            </a:r>
            <a:endParaRPr lang="en-US" sz="1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as fotos (S3)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099048" y="2331720"/>
            <a:ext cx="0" cy="521208"/>
          </a:xfrm>
          <a:prstGeom prst="line">
            <a:avLst/>
          </a:prstGeom>
          <a:noFill/>
          <a:ln w="25400">
            <a:solidFill>
              <a:srgbClr val="65727E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26364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· JSON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H="1">
            <a:off x="2468880" y="3794760"/>
            <a:ext cx="822960" cy="704088"/>
          </a:xfrm>
          <a:prstGeom prst="line">
            <a:avLst/>
          </a:prstGeom>
          <a:noFill/>
          <a:ln w="25400">
            <a:solidFill>
              <a:srgbClr val="65727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99048" y="3794760"/>
            <a:ext cx="0" cy="704088"/>
          </a:xfrm>
          <a:prstGeom prst="line">
            <a:avLst/>
          </a:prstGeom>
          <a:noFill/>
          <a:ln w="25400">
            <a:solidFill>
              <a:srgbClr val="65727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69680" y="3794760"/>
            <a:ext cx="850392" cy="704088"/>
          </a:xfrm>
          <a:prstGeom prst="line">
            <a:avLst/>
          </a:prstGeom>
          <a:noFill/>
          <a:ln w="25400">
            <a:solidFill>
              <a:srgbClr val="65727E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995928" y="5715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adaptador: troca a IA sem mexer no resto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572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rosto vira 512 números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92024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F1ECFD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92024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o rosto</a:t>
            </a:r>
            <a:endParaRPr lang="en-US" sz="1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SCRFD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090672" y="2487168"/>
            <a:ext cx="356616" cy="0"/>
          </a:xfrm>
          <a:prstGeom prst="line">
            <a:avLst/>
          </a:prstGeom>
          <a:noFill/>
          <a:ln w="25400">
            <a:solidFill>
              <a:srgbClr val="65727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520440" y="192024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F1ECFD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92024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</a:t>
            </a:r>
            <a:endParaRPr lang="en-US" sz="1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olhos no lugar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25312" y="2487168"/>
            <a:ext cx="356616" cy="0"/>
          </a:xfrm>
          <a:prstGeom prst="line">
            <a:avLst/>
          </a:prstGeom>
          <a:noFill/>
          <a:ln w="25400">
            <a:solidFill>
              <a:srgbClr val="65727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55080" y="192024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F1ECFD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92024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o vetor</a:t>
            </a:r>
            <a:endParaRPr lang="en-US" sz="1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ArcFace · 512 números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759952" y="2487168"/>
            <a:ext cx="356616" cy="0"/>
          </a:xfrm>
          <a:prstGeom prst="line">
            <a:avLst/>
          </a:prstGeom>
          <a:noFill/>
          <a:ln w="25400">
            <a:solidFill>
              <a:srgbClr val="65727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89720" y="192024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E8F5FC"/>
          </a:solidFill>
          <a:ln w="25400">
            <a:solidFill>
              <a:srgbClr val="007D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9720" y="192024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</a:t>
            </a:r>
            <a:endParaRPr lang="en-US" sz="1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similaridade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0,30</a:t>
            </a:r>
            <a:endParaRPr lang="en-US" sz="80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977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limiar de similaridade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abaixo dele, a foto não aparece: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não mostrar do que mostrar a foto errada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915400" y="4160520"/>
            <a:ext cx="2697480" cy="566928"/>
          </a:xfrm>
          <a:prstGeom prst="roundRect">
            <a:avLst>
              <a:gd name="adj" fmla="val 50000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15400" y="41605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InsightFace buffalo_l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572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Escolhido por teste, não por tabela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no Teste 1 (0 a 100)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InsightFace</a:t>
            </a:r>
            <a:endParaRPr lang="en-US" sz="1600" dirty="0"/>
          </a:p>
        </p:txBody>
      </p:sp>
      <p:sp>
        <p:nvSpPr>
          <p:cNvPr id="5" name="bar InsightFace"/>
          <p:cNvSpPr/>
          <p:nvPr/>
        </p:nvSpPr>
        <p:spPr>
          <a:xfrm>
            <a:off x="2880360" y="2057400"/>
            <a:ext cx="3926799" cy="512064"/>
          </a:xfrm>
          <a:prstGeom prst="roundRect">
            <a:avLst>
              <a:gd name="adj" fmla="val 10714"/>
            </a:avLst>
          </a:prstGeom>
          <a:solidFill>
            <a:srgbClr val="007DC5"/>
          </a:solidFill>
          <a:ln w="12700">
            <a:solidFill>
              <a:srgbClr val="007D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16887" y="205740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97,6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0720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YuNet + SFace</a:t>
            </a:r>
            <a:endParaRPr lang="en-US" sz="1600" dirty="0"/>
          </a:p>
        </p:txBody>
      </p:sp>
      <p:sp>
        <p:nvSpPr>
          <p:cNvPr id="8" name="bar YuNet + SFace"/>
          <p:cNvSpPr/>
          <p:nvPr/>
        </p:nvSpPr>
        <p:spPr>
          <a:xfrm>
            <a:off x="2880360" y="2807208"/>
            <a:ext cx="3600907" cy="512064"/>
          </a:xfrm>
          <a:prstGeom prst="roundRect">
            <a:avLst>
              <a:gd name="adj" fmla="val 10714"/>
            </a:avLst>
          </a:prstGeom>
          <a:solidFill>
            <a:srgbClr val="C9D3DB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90995" y="280720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89,5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57016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ArcFace</a:t>
            </a:r>
            <a:endParaRPr lang="en-US" sz="1600" dirty="0"/>
          </a:p>
        </p:txBody>
      </p:sp>
      <p:sp>
        <p:nvSpPr>
          <p:cNvPr id="11" name="bar ArcFace"/>
          <p:cNvSpPr/>
          <p:nvPr/>
        </p:nvSpPr>
        <p:spPr>
          <a:xfrm>
            <a:off x="2880360" y="3557016"/>
            <a:ext cx="2574950" cy="512064"/>
          </a:xfrm>
          <a:prstGeom prst="roundRect">
            <a:avLst>
              <a:gd name="adj" fmla="val 10714"/>
            </a:avLst>
          </a:prstGeom>
          <a:solidFill>
            <a:srgbClr val="C9D3DB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65038" y="3557016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06824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Facenet512</a:t>
            </a:r>
            <a:endParaRPr lang="en-US" sz="1600" dirty="0"/>
          </a:p>
        </p:txBody>
      </p:sp>
      <p:sp>
        <p:nvSpPr>
          <p:cNvPr id="14" name="bar Facenet512"/>
          <p:cNvSpPr/>
          <p:nvPr/>
        </p:nvSpPr>
        <p:spPr>
          <a:xfrm>
            <a:off x="2880360" y="4306824"/>
            <a:ext cx="2426086" cy="512064"/>
          </a:xfrm>
          <a:prstGeom prst="roundRect">
            <a:avLst>
              <a:gd name="adj" fmla="val 10714"/>
            </a:avLst>
          </a:prstGeom>
          <a:solidFill>
            <a:srgbClr val="C9D3DB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16174" y="430682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5663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VGG-Face</a:t>
            </a:r>
            <a:endParaRPr lang="en-US" sz="1600" dirty="0"/>
          </a:p>
        </p:txBody>
      </p:sp>
      <p:sp>
        <p:nvSpPr>
          <p:cNvPr id="17" name="bar VGG-Face"/>
          <p:cNvSpPr/>
          <p:nvPr/>
        </p:nvSpPr>
        <p:spPr>
          <a:xfrm>
            <a:off x="2880360" y="5056632"/>
            <a:ext cx="2297339" cy="512064"/>
          </a:xfrm>
          <a:prstGeom prst="roundRect">
            <a:avLst>
              <a:gd name="adj" fmla="val 10714"/>
            </a:avLst>
          </a:prstGeom>
          <a:solidFill>
            <a:srgbClr val="C9D3DB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87427" y="505663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388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2468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reais conferidas à mão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246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× 203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erradas no topo: 1º × 2º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5074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tecnologias · fotos de formatura · fotomac-lab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572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não uma IA generativa?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063240" y="146304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063240" y="1463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9A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· Gemini · Llama Vision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34072" y="146304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007DC5"/>
          </a:solidFill>
          <a:ln w="12700">
            <a:solidFill>
              <a:srgbClr val="007D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34072" y="1463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InsightFace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especializada em rosto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163824"/>
            <a:ext cx="11094415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28600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com 11 a 22 GB de memória¹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616952" y="228600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processador · ~1 GB de RAM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078224"/>
            <a:ext cx="11094415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0040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320040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livre, que varia e pode errar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616952" y="320040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números, sempre os mesmos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992624"/>
            <a:ext cx="11094415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1480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em 1.000 fotos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411480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 as fotos a cada busca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616952" y="411480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uma vez, ao publicar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907024"/>
            <a:ext cx="11094415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2920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502920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nuvem, o rosto vai para outra empresa, fora do país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616952" y="502920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rosto não sai do servidor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2531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Llama 3.2 Vision 11B rodando local (estimativa willitrunai.com). InsightFace medido neste projeto: 0,13 s por foto, notebook sem GPU.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572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licença do InsightFace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6035040" cy="4206240"/>
          </a:xfrm>
          <a:prstGeom prst="roundRect">
            <a:avLst>
              <a:gd name="adj" fmla="val 2609"/>
            </a:avLst>
          </a:prstGeom>
          <a:solidFill>
            <a:srgbClr val="F5F7F9"/>
          </a:solidFill>
          <a:ln w="25400">
            <a:solidFill>
              <a:srgbClr val="B8C4CE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do site do InsightFace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949440" y="1508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sobre a licença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572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Privacidade desde o desenho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40680" cy="1645920"/>
          </a:xfrm>
          <a:prstGeom prst="roundRect">
            <a:avLst>
              <a:gd name="adj" fmla="val 7778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23855B"/>
          </a:solidFill>
          <a:ln w="12700">
            <a:solidFill>
              <a:srgbClr val="2385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6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8288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selfie nunca é guardada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e descarta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508760"/>
            <a:ext cx="5440680" cy="1645920"/>
          </a:xfrm>
          <a:prstGeom prst="roundRect">
            <a:avLst>
              <a:gd name="adj" fmla="val 7778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965960"/>
            <a:ext cx="731520" cy="731520"/>
          </a:xfrm>
          <a:prstGeom prst="ellipse">
            <a:avLst/>
          </a:prstGeom>
          <a:solidFill>
            <a:srgbClr val="23855B"/>
          </a:solidFill>
          <a:ln w="12700">
            <a:solidFill>
              <a:srgbClr val="2385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6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18288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vetor antes de publicar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foto descartada nunca vira biometria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40680" cy="1645920"/>
          </a:xfrm>
          <a:prstGeom prst="roundRect">
            <a:avLst>
              <a:gd name="adj" fmla="val 7778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840480"/>
            <a:ext cx="731520" cy="731520"/>
          </a:xfrm>
          <a:prstGeom prst="ellipse">
            <a:avLst/>
          </a:prstGeom>
          <a:solidFill>
            <a:srgbClr val="23855B"/>
          </a:solidFill>
          <a:ln w="12700">
            <a:solidFill>
              <a:srgbClr val="2385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6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37033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só dentro do evento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2519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no acervo inteiro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3383280"/>
            <a:ext cx="5440680" cy="1645920"/>
          </a:xfrm>
          <a:prstGeom prst="roundRect">
            <a:avLst>
              <a:gd name="adj" fmla="val 7778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840480"/>
            <a:ext cx="731520" cy="731520"/>
          </a:xfrm>
          <a:prstGeom prst="ellipse">
            <a:avLst/>
          </a:prstGeom>
          <a:solidFill>
            <a:srgbClr val="23855B"/>
          </a:solidFill>
          <a:ln w="12700">
            <a:solidFill>
              <a:srgbClr val="2385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6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37033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tem prazo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2519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expira em 6 meses · remoção em 72 h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94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Rosto é dado pessoal sensível — LGPD, Art. 5º, II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572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estamos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E8F7F0"/>
          </a:solidFill>
          <a:ln w="12700">
            <a:solidFill>
              <a:srgbClr val="2385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8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Administração e acervo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8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Pronta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97680" y="150876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E8F7F0"/>
          </a:solidFill>
          <a:ln w="12700">
            <a:solidFill>
              <a:srgbClr val="2385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783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8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194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público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8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Pronta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46720" y="150876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4D6"/>
          </a:solidFill>
          <a:ln w="12700">
            <a:solidFill>
              <a:srgbClr val="9A65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1783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194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e apoio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Em andamento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" y="4617720"/>
            <a:ext cx="118872" cy="118872"/>
          </a:xfrm>
          <a:prstGeom prst="ellipse">
            <a:avLst/>
          </a:prstGeom>
          <a:solidFill>
            <a:srgbClr val="007DC5"/>
          </a:solidFill>
          <a:ln w="12700">
            <a:solidFill>
              <a:srgbClr val="007D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4805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 institucionais e registros de uso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66928" y="5074920"/>
            <a:ext cx="118872" cy="118872"/>
          </a:xfrm>
          <a:prstGeom prst="ellipse">
            <a:avLst/>
          </a:prstGeom>
          <a:solidFill>
            <a:srgbClr val="007DC5"/>
          </a:solidFill>
          <a:ln w="12700">
            <a:solidFill>
              <a:srgbClr val="007D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9377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Calibrar o limiar com mais pessoas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5532120"/>
            <a:ext cx="118872" cy="118872"/>
          </a:xfrm>
          <a:prstGeom prst="ellipse">
            <a:avLst/>
          </a:prstGeom>
          <a:solidFill>
            <a:srgbClr val="007DC5"/>
          </a:solidFill>
          <a:ln w="12700">
            <a:solidFill>
              <a:srgbClr val="007D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3949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Aplicativo móvel e implantação no CESMAC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3931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007D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60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846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5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automáticos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5727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ver funcionando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5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do sistema</a:t>
            </a:r>
            <a:endParaRPr lang="en-US" sz="2200" dirty="0"/>
          </a:p>
        </p:txBody>
      </p:sp>
      <p:pic>
        <p:nvPicPr>
          <p:cNvPr id="4" name="Image 0" descr="FOTOMA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897880"/>
            <a:ext cx="2377440" cy="3315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TOMAC">
  <a:themeElements>
    <a:clrScheme name="FOTOMAC">
      <a:dk1>
        <a:srgbClr val="1E2933"/>
      </a:dk1>
      <a:lt1>
        <a:srgbClr val="FFFFFF"/>
      </a:lt1>
      <a:dk2>
        <a:srgbClr val="072D44"/>
      </a:dk2>
      <a:lt2>
        <a:srgbClr val="F5F7F9"/>
      </a:lt2>
      <a:accent1>
        <a:srgbClr val="007DC5"/>
      </a:accent1>
      <a:accent2>
        <a:srgbClr val="FFC506"/>
      </a:accent2>
      <a:accent3>
        <a:srgbClr val="23855B"/>
      </a:accent3>
      <a:accent4>
        <a:srgbClr val="3EC3FF"/>
      </a:accent4>
      <a:accent5>
        <a:srgbClr val="9A6500"/>
      </a:accent5>
      <a:accent6>
        <a:srgbClr val="65727E"/>
      </a:accent6>
      <a:hlink>
        <a:srgbClr val="007DC5"/>
      </a:hlink>
      <a:folHlink>
        <a:srgbClr val="072D44"/>
      </a:folHlink>
    </a:clrScheme>
    <a:fontScheme name="FOTOMA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FOTOMAC — acervo fotográfico com busca por reconhecimento facial</dc:title>
  <dc:subject>PptxGenJS Presentation</dc:subject>
  <dc:creator>Thiago Nunes</dc:creator>
  <cp:lastModifiedBy>Thiago Nunes</cp:lastModifiedBy>
  <cp:revision>1</cp:revision>
  <dcterms:created xsi:type="dcterms:W3CDTF">2026-10-11T20:58:58Z</dcterms:created>
  <dcterms:modified xsi:type="dcterms:W3CDTF">2026-10-11T20:58:58Z</dcterms:modified>
</cp:coreProperties>
</file>