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bookmarkIdSeed="2">
  <p:sldMasterIdLst>
    <p:sldMasterId id="2147483648" r:id="rId4"/>
    <p:sldMasterId id="2147483661" r:id="rId5"/>
  </p:sldMasterIdLst>
  <p:notesMasterIdLst>
    <p:notesMasterId r:id="rId16"/>
  </p:notesMasterIdLst>
  <p:sldIdLst>
    <p:sldId id="256" r:id="rId6"/>
    <p:sldId id="257" r:id="rId7"/>
    <p:sldId id="258" r:id="rId8"/>
    <p:sldId id="292" r:id="rId9"/>
    <p:sldId id="293" r:id="rId10"/>
    <p:sldId id="296" r:id="rId22"/>
    <p:sldId id="297" r:id="rId23"/>
    <p:sldId id="298" r:id="rId24"/>
    <p:sldId id="299" r:id="rId25"/>
    <p:sldId id="300" r:id="rId26"/>
    <p:sldId id="301" r:id="rId27"/>
    <p:sldId id="286" r:id="rId11"/>
    <p:sldId id="289" r:id="rId13"/>
    <p:sldId id="302" r:id="rId28"/>
    <p:sldId id="266" r:id="rId15"/>
    <p:sldId id="303" r:id="rId29"/>
    <p:sldId id="304" r:id="rId3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898A11-1515-0D8E-B178-7EB4942ACC4B}" v="1" dt="2026-10-08T21:34:23.1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3" Type="http://schemas.openxmlformats.org/officeDocument/2006/relationships/slide" Target="slides/slide8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5/10/relationships/revisionInfo" Target="revisionInfo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B0D120-E3A5-46A2-9E77-26D4C80A85A8}" type="datetimeFigureOut">
              <a:rPr lang="pt-BR" smtClean="0"/>
              <a:t>11/10/2026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CA6D91-F583-4734-BE11-E0672727590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9845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Chamar o vídeo: o fotógrafo publicando um evento, e o visitante encontrando as próprias fotos pela selfie. Cuidado de LGPD: o vídeo só mostra fotos minhas ou de voluntários que concordaram.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1263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Construí o sistema em etapas, na ordem em que uma depende da outra: a base, o login da equipe (2a), a área do fotógrafo (2b) e a do visitante (3). Com isso, as fases 1 e 2 do documento de requisitos estão completas. Da etapa 4, do administrador, as contas (4a) estão prontas e os temas e ajustes da IA (4b) estão feitos e em teste. Tudo isso é coberto por 125 testes automáticos. O que falta, explico no próximo slide.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CA6D91-F583-4734-BE11-E0672727590C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919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o FOTOMAC em uma frase: a pessoa encontra as próprias fotos dos eventos do CESMAC pelo rosto, sem ver as fotos dos outros. Agradecer ao Pedro Rosa, que ajudou em boa parte do desenvolvimento, e citar os clientes: o fotógrafo Moacir Barbosa e o CESMAC.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rápido: o problema e a solução, a ficha do software, como foi construído, o vídeo do sistema funcionando e o que está pronto e o que falta.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evento do CESMAC pode ter até mil fotos. Hoje, para achar as suas, você olha todas — e quem procura vê o rosto de todo mundo. No FOTOMAC, o visitante lê o aviso, tira uma selfie e recebe só as fotos em que aparece. Como rosto é dado pessoal sensível pela LGPD (Art. 5º, II), a privacidade entrou no desenho desde o começo.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ficha do FOTOMAC: servidor em Python com FastAPI, site em TypeScript com Expo — a mesma base vira o aplicativo depois. Banco PostgreSQL com a extensão pgvector, que guarda e compara os vetores de rosto. As fotos ficam no SeaweedFS, o armazenamento que o servidor do CESMAC já 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Primeiro levantei os requisitos com o cliente — o documento está na versão 1.6. Depois construí em etapas, cada uma com testes automáticos. A IA de reconhecimento facial foi escolhida por um teste meu, com fotos reais de formatura. E a LGPD entrou em cada decisão, não como revisão no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site só conversa com a API. A API fala com o banco, com o reconhecimento facial e com o armazenamento das fotos — e confere a permissão antes. O InsightFace fica atrás de um adaptador: trocar de IA é escrever um adaptador novo, sem mexer no resto.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InsightFace acha o rosto (SCRFD), alinha e transforma em 512 números (ArcFace). Para comparar dois rostos, mede-se o quanto esses vetores apontam para o mesmo lado. Só aparece o que passa de 0,30 — no Teste 1, a foto errada mais alta tirou 0,278.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do sistema, montei uma bancada e comparei 5 tecnologias em 388 fotos reais de formatura, conferindo cada uma à mão. O InsightFace venceu com folga: 7 fotos erradas no topo do ranking contra 203 do segundo. Isso contraria as tabelas publicadas — elas medem rostos recortados, não plateia.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InsightFace também é IA — mas especializada: só faz rosto. Uma IA generativa, como o ChatGPT, foi feita para conversar. Para rodar uma dessas aqui dentro, precisaria de placa de vídeo com 11 a 22 GB; o InsightFace roda no processador com cerca de 1 GB. Ela responde em texto, que muda de uma vez para outra; o InsightFace devolve sempre os mesmos 512 números, calculados uma vez quando a foto é publicada. E usar uma IA na nuvem seria mandar rosto, dado sensível, para outra empresa fora do Brasil — a LGPD só permite transferência internacional nos casos do Art. 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código do InsightFace é MIT, sem restrição. O que tem restrição são os modelos treinados, como o buffalo_l que eu uso: são liberados só para pesquisa não comercial. Este TCC é pesquisa acadêmica, então está coberto. Quando o CESMAC colocar o sistema em operação, aí precisa licenciar — decisão da instituição, e quem confirma a leitura da licença é o jurídico. Se a licença não sair, o adaptador troca pelo YuNet + SFace (MIT e Apache 2.0), que tirou 89,5 no mesmo teste; a diferença está medida: 203 fotos erradas no topo contra 7.</a:t>
            </a:r>
          </a:p>
          <a:p/>
          <a:p>
            <a:r>
              <a:t>Se perguntarem 'o CESMAC não vende nada, então não é comercial?': a licença diz 'non-commercial RESEARCH purposes only'. A palavra que decide é pesquisa; operar um serviço para centenas de pessoas não é pesquisa, mesmo gratuito. Leitura conservadora; a palavra final é do jurídico.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rosto é dado biométrico, sensível pela LGPD. Por isso: a selfie nunca é armazenada, nenhum vetor existe antes da publicação, a busca é sempre dentro de um evento, e tudo expira — com remoção a pedido em até 72 horas. Ao sair da página, o resultado também é apagado.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fechar o TCC faltam quatro coisas. A 4c: o visitante já pede a remoção de uma foto, e ela some da busca na hora e é apagada em 72 horas; falta o lado do administrador — a tela dos pedidos, o alerta de uso estranho e o relatório. A 4d: um cadastro restrito de coordenadores e diretores que autorizaram por escrito, para a comunicação achar as fotos deles pelo nome (Art. 11 da LGPD). O plano B do reconhecimento: o YuNet + SFace pronto para troca planejada, e se o InsightFace falhar, só a busca pausa — o sistema nunca troca de IA sozinho, porque um modelo sem calibrar mostraria fotos de outras pessoas. E calibrar o limiar com mais gente. Depois, na implantação: aplicativo, servidor e e-mail do CESMAC, e a licença do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Referências no formato da ABNT (NBR 6023), só do que é citado nos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Continuação das referências.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reserva: só mostrar se perguntarem como licenciar, quanto custa ou o que acontece se a licença não sair. O print é da página de contato geral (contact@insightface.ai); para o buffalo_l, o GitHub do InsightFace indica o e-mail recognition-oss-pack@insightface.ai. Preço não é público. Referência: a Montala, do ResourceSpace (sistema de acervo de imagens, parecido com o nosso), comprou licença perpétua do buffalo_l para os clientes dela com contrato. Se não licenciar: troca pelo adaptador, reindexa e segue — perde 8 pontos no Teste 1 (97,6 para 89,5).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Data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body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body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 type="body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 type="body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Relationship Id="rId15" Type="http://schemas.openxmlformats.org/officeDocument/2006/relationships/image" Target="../media/image2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1.jpeg"/><Relationship Id="rId15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hape 11"/>
          <p:cNvPicPr/>
          <p:nvPr/>
        </p:nvPicPr>
        <p:blipFill>
          <a:blip r:embed="rId14"/>
          <a:stretch/>
        </p:blipFill>
        <p:spPr>
          <a:xfrm rot="16200000">
            <a:off x="4272120" y="1986480"/>
            <a:ext cx="599040" cy="9143640"/>
          </a:xfrm>
          <a:prstGeom prst="rect">
            <a:avLst/>
          </a:prstGeom>
          <a:ln>
            <a:noFill/>
          </a:ln>
        </p:spPr>
      </p:pic>
      <p:pic>
        <p:nvPicPr>
          <p:cNvPr id="8" name="Shape 12"/>
          <p:cNvPicPr/>
          <p:nvPr/>
        </p:nvPicPr>
        <p:blipFill>
          <a:blip r:embed="rId15"/>
          <a:stretch/>
        </p:blipFill>
        <p:spPr>
          <a:xfrm>
            <a:off x="6906240" y="67320"/>
            <a:ext cx="2186640" cy="642960"/>
          </a:xfrm>
          <a:prstGeom prst="rect">
            <a:avLst/>
          </a:prstGeom>
          <a:ln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tIns="91440" bIns="91440" anchor="ctr"/>
          <a:lstStyle/>
          <a:p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4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Shape 11"/>
          <p:cNvPicPr/>
          <p:nvPr/>
        </p:nvPicPr>
        <p:blipFill>
          <a:blip r:embed="rId14"/>
          <a:stretch/>
        </p:blipFill>
        <p:spPr>
          <a:xfrm rot="16200000">
            <a:off x="4272120" y="1986480"/>
            <a:ext cx="599040" cy="9143640"/>
          </a:xfrm>
          <a:prstGeom prst="rect">
            <a:avLst/>
          </a:prstGeom>
          <a:ln>
            <a:noFill/>
          </a:ln>
        </p:spPr>
      </p:pic>
      <p:pic>
        <p:nvPicPr>
          <p:cNvPr id="44" name="Shape 12"/>
          <p:cNvPicPr/>
          <p:nvPr/>
        </p:nvPicPr>
        <p:blipFill>
          <a:blip r:embed="rId15"/>
          <a:stretch/>
        </p:blipFill>
        <p:spPr>
          <a:xfrm>
            <a:off x="6906240" y="67320"/>
            <a:ext cx="2186640" cy="642960"/>
          </a:xfrm>
          <a:prstGeom prst="rect">
            <a:avLst/>
          </a:prstGeom>
          <a:ln>
            <a:noFill/>
          </a:ln>
        </p:spPr>
      </p:pic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tIns="91440" bIns="91440" anchor="ctr"/>
          <a:lstStyle/>
          <a:p>
            <a:r>
              <a:rPr lang="pt-BR" sz="4400" b="0" strike="noStrike" spc="-1">
                <a:solidFill>
                  <a:srgbClr val="000000"/>
                </a:solidFill>
                <a:latin typeface="Arial"/>
              </a:rPr>
              <a:t>Clique para editar o formato do texto do título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 tIns="91440" bIns="91440"/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Arial"/>
              </a:rPr>
              <a:t>7.º nível da estrutura de tópicos</a:t>
            </a:r>
          </a:p>
        </p:txBody>
      </p:sp>
      <p:sp>
        <p:nvSpPr>
          <p:cNvPr id="47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tIns="91440" bIns="91440" anchor="ctr"/>
          <a:lstStyle/>
          <a:p>
            <a:endParaRPr lang="pt-BR" sz="2400" b="0" strike="noStrike" spc="-1" dirty="0"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AF0D81F0-FA75-44F8-B89B-4B40F29A3B3C}" type="slidenum">
              <a:rPr lang="pt-BR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‹nº›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365760" y="4551452"/>
            <a:ext cx="8412480" cy="166754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algn="ctr">
              <a:lnSpc>
                <a:spcPct val="100000"/>
              </a:lnSpc>
            </a:pPr>
            <a:r>
              <a:rPr lang="pt-BR" sz="1600" b="1" strike="noStrike" spc="-1" dirty="0">
                <a:solidFill>
                  <a:srgbClr val="000000"/>
                </a:solidFill>
                <a:latin typeface="Arial"/>
                <a:ea typeface="Georgia"/>
              </a:rPr>
              <a:t>AUTOR</a:t>
            </a:r>
            <a:r>
              <a:rPr lang="pt-BR" sz="1600" b="0" strike="noStrike" spc="-1" dirty="0">
                <a:solidFill>
                  <a:srgbClr val="000000"/>
                </a:solidFill>
                <a:latin typeface="Arial"/>
                <a:ea typeface="Georgia"/>
              </a:rPr>
              <a:t>: Thiago José Camêlo Nunes</a:t>
            </a:r>
          </a:p>
          <a:p>
            <a:pPr algn="ctr">
              <a:lnSpc>
                <a:spcPct val="100000"/>
              </a:lnSpc>
            </a:pPr>
            <a:r>
              <a:rPr lang="pt-BR" sz="1600" b="1" strike="noStrike" spc="-1" dirty="0">
                <a:solidFill>
                  <a:srgbClr val="000000"/>
                </a:solidFill>
                <a:latin typeface="Arial"/>
                <a:ea typeface="Georgia"/>
              </a:rPr>
              <a:t>COLABORADOR</a:t>
            </a:r>
            <a:r>
              <a:rPr lang="pt-BR" sz="1600" b="0" strike="noStrike" spc="-1" dirty="0">
                <a:solidFill>
                  <a:srgbClr val="000000"/>
                </a:solidFill>
                <a:latin typeface="Arial"/>
                <a:ea typeface="Georgia"/>
              </a:rPr>
              <a:t>: Pedro Rosa</a:t>
            </a:r>
          </a:p>
          <a:p>
            <a:pPr algn="ctr">
              <a:lnSpc>
                <a:spcPct val="100000"/>
              </a:lnSpc>
            </a:pPr>
            <a:r>
              <a:rPr lang="pt-BR" sz="1600" b="1" strike="noStrike" spc="-1" dirty="0">
                <a:solidFill>
                  <a:srgbClr val="000000"/>
                </a:solidFill>
                <a:latin typeface="Arial"/>
                <a:ea typeface="Georgia"/>
              </a:rPr>
              <a:t>ORIENTADOR</a:t>
            </a:r>
            <a:r>
              <a:rPr lang="pt-BR" sz="1600" b="0" strike="noStrike" spc="-1" dirty="0">
                <a:solidFill>
                  <a:srgbClr val="000000"/>
                </a:solidFill>
                <a:latin typeface="Arial"/>
                <a:ea typeface="Georgia"/>
              </a:rPr>
              <a:t>: Prof. Me. Wagner de Oliveira Lima Palmeira de Araujo</a:t>
            </a:r>
          </a:p>
          <a:p>
            <a:pPr algn="ctr">
              <a:lnSpc>
                <a:spcPct val="100000"/>
              </a:lnSpc>
            </a:pPr>
            <a:r>
              <a:rPr lang="pt-BR" sz="1600" b="1" strike="noStrike" spc="-1" dirty="0">
                <a:solidFill>
                  <a:srgbClr val="000000"/>
                </a:solidFill>
                <a:latin typeface="Arial"/>
                <a:ea typeface="Georgia"/>
              </a:rPr>
              <a:t>STAKEHOLDERS</a:t>
            </a:r>
            <a:r>
              <a:rPr lang="pt-BR" sz="1600" b="0" strike="noStrike" spc="-1" dirty="0">
                <a:solidFill>
                  <a:srgbClr val="000000"/>
                </a:solidFill>
                <a:latin typeface="Arial"/>
                <a:ea typeface="Georgia"/>
              </a:rPr>
              <a:t>: Prof. Me. Wagner, Moacir Barbosa (fotógrafo) e CESMAC</a:t>
            </a:r>
          </a:p>
        </p:txBody>
      </p:sp>
      <p:sp>
        <p:nvSpPr>
          <p:cNvPr id="87" name="TextShape 2"/>
          <p:cNvSpPr txBox="1"/>
          <p:nvPr/>
        </p:nvSpPr>
        <p:spPr>
          <a:xfrm>
            <a:off x="251640" y="2205000"/>
            <a:ext cx="8568720" cy="146952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pt-BR" sz="3000" b="1" strike="noStrike" spc="-1" dirty="0">
                <a:solidFill>
                  <a:srgbClr val="000000"/>
                </a:solidFill>
                <a:latin typeface="Arial"/>
                <a:ea typeface="Calibri"/>
              </a:rPr>
              <a:t>FOTOMAC: </a:t>
            </a:r>
            <a:r>
              <a:rPr lang="pt-BR" sz="3000" strike="noStrike" spc="-1" dirty="0">
                <a:solidFill>
                  <a:srgbClr val="000000"/>
                </a:solidFill>
                <a:latin typeface="Arial"/>
                <a:ea typeface="Calibri"/>
              </a:rPr>
              <a:t>ACERVO FOTOGRÁFICO COM BUSCA POR RECONHECIMENTO FACIAL</a:t>
            </a:r>
            <a:endParaRPr lang="pt-BR" sz="360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BB2F2C6E-B726-4BD2-B60B-509FAD1D4243}" type="slidenum">
              <a:rPr lang="pt-BR" sz="1200" b="0" strike="noStrike" spc="-1" smtClean="0">
                <a:solidFill>
                  <a:srgbClr val="888888"/>
                </a:solidFill>
                <a:latin typeface="Calibri"/>
                <a:ea typeface="Calibri"/>
              </a:rPr>
              <a:t>1</a:t>
            </a:fld>
            <a:endParaRPr lang="pt-BR" sz="1200" b="0" strike="noStrike" spc="-1" dirty="0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457200" y="1914120"/>
            <a:ext cx="8229240" cy="4491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spc="-1" dirty="0">
                <a:solidFill>
                  <a:srgbClr val="000000"/>
                </a:solidFill>
                <a:latin typeface="Segoe UI"/>
              </a:rPr>
              <a:t>Introdução</a:t>
            </a: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spc="-1" dirty="0">
                <a:solidFill>
                  <a:srgbClr val="000000"/>
                </a:solidFill>
                <a:latin typeface="Segoe UI"/>
              </a:rPr>
              <a:t>Informações do Software</a:t>
            </a: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spc="-1" dirty="0">
                <a:solidFill>
                  <a:srgbClr val="000000"/>
                </a:solidFill>
                <a:latin typeface="Segoe UI"/>
              </a:rPr>
              <a:t>Metodologia e Desenvolvimento</a:t>
            </a: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spc="-1" dirty="0">
                <a:solidFill>
                  <a:srgbClr val="000000"/>
                </a:solidFill>
                <a:latin typeface="Segoe UI"/>
              </a:rPr>
              <a:t>Vídeo</a:t>
            </a: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spc="-1" dirty="0">
                <a:solidFill>
                  <a:srgbClr val="000000"/>
                </a:solidFill>
                <a:latin typeface="Segoe UI"/>
              </a:rPr>
              <a:t>Resultados Parciais</a:t>
            </a: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spc="-1" dirty="0">
                <a:solidFill>
                  <a:srgbClr val="000000"/>
                </a:solidFill>
                <a:latin typeface="Segoe UI"/>
              </a:rPr>
              <a:t>Referências</a:t>
            </a:r>
          </a:p>
        </p:txBody>
      </p:sp>
      <p:sp>
        <p:nvSpPr>
          <p:cNvPr id="89" name="TextShape 2"/>
          <p:cNvSpPr txBox="1"/>
          <p:nvPr/>
        </p:nvSpPr>
        <p:spPr>
          <a:xfrm>
            <a:off x="457200" y="69264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pc="-1" dirty="0">
                <a:solidFill>
                  <a:srgbClr val="000000"/>
                </a:solidFill>
                <a:latin typeface="Segoe UI Semibold"/>
              </a:rPr>
              <a:t>ROTEIRO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457200" y="1828800"/>
            <a:ext cx="8229240" cy="40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b="0" strike="noStrike" spc="-1" dirty="0">
                <a:solidFill>
                  <a:srgbClr val="000000"/>
                </a:solidFill>
                <a:latin typeface="Segoe UI"/>
                <a:ea typeface="Georgia"/>
              </a:rPr>
              <a:t>O problema: folhear todas as fotos</a:t>
            </a: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b="0" strike="noStrike" spc="-1" dirty="0">
                <a:solidFill>
                  <a:srgbClr val="000000"/>
                </a:solidFill>
                <a:latin typeface="Segoe UI"/>
                <a:ea typeface="Georgia"/>
              </a:rPr>
              <a:t>Até 1.000 fotos por evento</a:t>
            </a: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b="0" strike="noStrike" spc="-1" dirty="0">
                <a:solidFill>
                  <a:srgbClr val="000000"/>
                </a:solidFill>
                <a:latin typeface="Segoe UI"/>
                <a:ea typeface="Georgia"/>
              </a:rPr>
              <a:t>Quem procura vê o rosto de todos</a:t>
            </a: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b="0" strike="noStrike" spc="-1" dirty="0">
                <a:solidFill>
                  <a:srgbClr val="000000"/>
                </a:solidFill>
                <a:latin typeface="Segoe UI"/>
                <a:ea typeface="Georgia"/>
              </a:rPr>
              <a:t>Solução: uma selfie, só as suas fotos</a:t>
            </a: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b="0" strike="noStrike" spc="-1" dirty="0">
                <a:solidFill>
                  <a:srgbClr val="000000"/>
                </a:solidFill>
                <a:latin typeface="Segoe UI"/>
                <a:ea typeface="Georgia"/>
              </a:rPr>
              <a:t>Rosto é dado sensível (LGPD)</a:t>
            </a:r>
          </a:p>
        </p:txBody>
      </p:sp>
      <p:sp>
        <p:nvSpPr>
          <p:cNvPr id="91" name="TextShape 2"/>
          <p:cNvSpPr txBox="1"/>
          <p:nvPr/>
        </p:nvSpPr>
        <p:spPr>
          <a:xfrm>
            <a:off x="457200" y="734496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trike="noStrike" spc="-1" dirty="0">
                <a:solidFill>
                  <a:srgbClr val="000000"/>
                </a:solidFill>
                <a:latin typeface="Segoe UI Semibold"/>
                <a:ea typeface="Trebuchet MS"/>
              </a:rPr>
              <a:t>INTRODUÇÃO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457200" y="65674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trike="noStrike" spc="-1" dirty="0">
                <a:solidFill>
                  <a:srgbClr val="000000"/>
                </a:solidFill>
                <a:latin typeface="Segoe UI Semibold"/>
                <a:ea typeface="Trebuchet MS"/>
              </a:rPr>
              <a:t>Informações do Software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CustomShape 1"/>
          <p:cNvSpPr/>
          <p:nvPr/>
        </p:nvSpPr>
        <p:spPr>
          <a:xfrm>
            <a:off x="325402" y="1885212"/>
            <a:ext cx="8492836" cy="40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Nome do Produto:</a:t>
            </a:r>
            <a:r>
              <a:rPr lang="pt-BR" sz="1600" b="0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FOTOMAC (denominação provisória)</a:t>
            </a:r>
            <a:endParaRPr lang="pt-BR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Linguagem de Programação:</a:t>
            </a:r>
            <a:r>
              <a:rPr lang="pt-BR" sz="1600" b="0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Python (servidor) e TypeScript (site)</a:t>
            </a:r>
            <a:endParaRPr lang="pt-BR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Banco de dados:</a:t>
            </a:r>
            <a:r>
              <a:rPr lang="pt-BR" sz="1600" b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PostgreSQL com pgvector; as fotos ficam no SeaweedFS</a:t>
            </a:r>
            <a:endParaRPr lang="pt-BR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Resumo da Aplicabilidade do Software:</a:t>
            </a:r>
            <a:r>
              <a:rPr lang="pt-BR" sz="1600" b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acervo fotográfico dos eventos do CESMAC em que a própria pessoa encontra as suas fotos por reconhecimento facial</a:t>
            </a:r>
            <a:endParaRPr lang="pt-BR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Qual problema o software pretende resolver:</a:t>
            </a:r>
            <a:r>
              <a:rPr lang="pt-BR" sz="1600" b="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achar as próprias fotos entre até 1.000 por evento sem expor o rosto de todos</a:t>
            </a:r>
            <a:endParaRPr lang="pt-BR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600" b="1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Framework:</a:t>
            </a:r>
            <a:r>
              <a:rPr lang="pt-BR" sz="1600" b="0" dirty="0">
                <a:solidFill>
                  <a:srgbClr val="0D0D0D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FastAPI (servidor), Expo / React Native (site; o aplicativo vem depois) e InsightFace (reconhecimento facial)</a:t>
            </a:r>
            <a:endParaRPr lang="pt-BR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endParaRPr lang="pt-BR" sz="2000" spc="-1" dirty="0">
              <a:solidFill>
                <a:srgbClr val="000000"/>
              </a:solidFill>
              <a:latin typeface="Segoe UI"/>
            </a:endParaRP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endParaRPr lang="pt-BR" sz="2000" strike="noStrike" spc="-1" dirty="0">
              <a:latin typeface="Arial"/>
            </a:endParaRPr>
          </a:p>
          <a:p>
            <a:pPr marL="559080" lvl="1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</a:pPr>
            <a:endParaRPr lang="pt-BR" sz="2400" b="0" strike="noStrike" spc="-1" dirty="0">
              <a:latin typeface="Arial"/>
            </a:endParaRPr>
          </a:p>
          <a:p>
            <a:pPr marL="559080" lvl="1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</a:pPr>
            <a:endParaRPr lang="pt-BR" sz="2400" b="0" strike="noStrike" spc="-1" dirty="0">
              <a:latin typeface="Arial"/>
            </a:endParaRPr>
          </a:p>
          <a:p>
            <a:pPr marL="101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</a:pPr>
            <a:endParaRPr lang="pt-BR" sz="24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400" b="0" strike="noStrike" spc="-1" dirty="0">
              <a:latin typeface="Arial"/>
            </a:endParaRPr>
          </a:p>
          <a:p>
            <a:pPr marL="109800" indent="-7920">
              <a:lnSpc>
                <a:spcPct val="100000"/>
              </a:lnSpc>
              <a:spcBef>
                <a:spcPts val="300"/>
              </a:spcBef>
            </a:pPr>
            <a:endParaRPr lang="pt-BR" sz="24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4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4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400" b="0" strike="noStrike" spc="-1" dirty="0">
              <a:latin typeface="Arial"/>
            </a:endParaRPr>
          </a:p>
          <a:p>
            <a:pPr marL="365760" indent="-86040">
              <a:lnSpc>
                <a:spcPct val="100000"/>
              </a:lnSpc>
              <a:spcBef>
                <a:spcPts val="300"/>
              </a:spcBef>
            </a:pPr>
            <a:endParaRPr lang="pt-BR" sz="24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8960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484632" y="915948"/>
            <a:ext cx="8492836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 dirty="0">
                <a:solidFill>
                  <a:srgbClr val="000000"/>
                </a:solidFill>
                <a:latin typeface="Segoe UI Semibold"/>
                <a:ea typeface="Trebuchet MS"/>
              </a:rPr>
              <a:t>Metodologia e Desenvolvimento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55BD0D4C-585C-489A-9591-CF49A9D6FD5E}"/>
              </a:ext>
            </a:extLst>
          </p:cNvPr>
          <p:cNvSpPr/>
          <p:nvPr/>
        </p:nvSpPr>
        <p:spPr>
          <a:xfrm>
            <a:off x="457380" y="1745496"/>
            <a:ext cx="8229240" cy="4056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b="0" strike="noStrike" spc="-1" dirty="0">
                <a:solidFill>
                  <a:srgbClr val="000000"/>
                </a:solidFill>
                <a:latin typeface="Segoe UI"/>
                <a:ea typeface="Georgia"/>
              </a:rPr>
              <a:t>Requisitos com o cliente (v1.6)</a:t>
            </a: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b="0" strike="noStrike" spc="-1" dirty="0">
                <a:solidFill>
                  <a:srgbClr val="000000"/>
                </a:solidFill>
                <a:latin typeface="Segoe UI"/>
                <a:ea typeface="Georgia"/>
              </a:rPr>
              <a:t>Construção em etapas, cada uma testada</a:t>
            </a: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b="0" strike="noStrike" spc="-1" dirty="0">
                <a:solidFill>
                  <a:srgbClr val="000000"/>
                </a:solidFill>
                <a:latin typeface="Segoe UI"/>
                <a:ea typeface="Georgia"/>
              </a:rPr>
              <a:t>IA escolhida por teste com fotos reais</a:t>
            </a:r>
          </a:p>
          <a:p>
            <a:pPr marL="365760" indent="-263880">
              <a:lnSpc>
                <a:spcPct val="150000"/>
              </a:lnSpc>
              <a:spcBef>
                <a:spcPts val="300"/>
              </a:spcBef>
              <a:buClr>
                <a:srgbClr val="A04DA3"/>
              </a:buClr>
              <a:buFont typeface="Georgia"/>
              <a:buChar char="•"/>
            </a:pPr>
            <a:r>
              <a:rPr lang="pt-BR" sz="2800" b="0" strike="noStrike" spc="-1" dirty="0">
                <a:solidFill>
                  <a:srgbClr val="000000"/>
                </a:solidFill>
                <a:latin typeface="Segoe UI"/>
                <a:ea typeface="Georgia"/>
              </a:rPr>
              <a:t>LGPD aplicada desde o desenho</a:t>
            </a:r>
          </a:p>
        </p:txBody>
      </p:sp>
    </p:spTree>
    <p:extLst>
      <p:ext uri="{BB962C8B-B14F-4D97-AF65-F5344CB8AC3E}">
        <p14:creationId xmlns:p14="http://schemas.microsoft.com/office/powerpoint/2010/main" val="528771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pc="-1" dirty="0">
                <a:solidFill>
                  <a:srgbClr val="000000"/>
                </a:solidFill>
                <a:latin typeface="Segoe UI Semibold"/>
              </a:rPr>
              <a:t>Vídeo</a:t>
            </a:r>
            <a:endParaRPr lang="pt-BR" sz="4400" spc="-1" dirty="0">
              <a:solidFill>
                <a:srgbClr val="000000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471055" y="2202873"/>
            <a:ext cx="82573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Demonstração gravada do sistema: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fotógrafo publica um evento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 visitante encontra as próprias fotos pela selfie</a:t>
            </a:r>
          </a:p>
        </p:txBody>
      </p:sp>
    </p:spTree>
    <p:extLst>
      <p:ext uri="{BB962C8B-B14F-4D97-AF65-F5344CB8AC3E}">
        <p14:creationId xmlns:p14="http://schemas.microsoft.com/office/powerpoint/2010/main" val="74748238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Shape 1"/>
          <p:cNvSpPr txBox="1"/>
          <p:nvPr/>
        </p:nvSpPr>
        <p:spPr>
          <a:xfrm>
            <a:off x="457200" y="1123488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pc="-1" dirty="0">
                <a:solidFill>
                  <a:srgbClr val="000000"/>
                </a:solidFill>
                <a:latin typeface="Segoe UI Semibold"/>
              </a:rPr>
              <a:t>Resultados Parciais</a:t>
            </a:r>
            <a:endParaRPr lang="pt-BR" sz="4400" spc="-1" dirty="0">
              <a:solidFill>
                <a:srgbClr val="000000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4663440" y="2148840"/>
            <a:ext cx="4114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sz="1600"/>
              <a:t>Etapas Pendentes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z="1600"/>
              <a:t>4c · Remoções e uso atípico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z="1600"/>
              <a:t>4d · Pessoas institucionais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z="1600"/>
              <a:t>Plano B do reconhecimento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z="1600"/>
              <a:t>Calibrar o limiar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z="1600"/>
              <a:t>Aplicativo móvel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z="1600"/>
              <a:t>Implantação no CESMAC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695BB70-7287-B812-E0B1-6C0531C268DB}"/>
              </a:ext>
            </a:extLst>
          </p:cNvPr>
          <p:cNvSpPr txBox="1"/>
          <p:nvPr/>
        </p:nvSpPr>
        <p:spPr>
          <a:xfrm>
            <a:off x="274320" y="2148840"/>
            <a:ext cx="4114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sz="1600"/>
              <a:t>Etapas Concluídas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z="1600"/>
              <a:t>1 · Base do sistema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z="1600"/>
              <a:t>2a · Login da equipe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z="1600"/>
              <a:t>2b · Área do fotógrafo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z="1600"/>
              <a:t>3 · Área do visitante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z="1600"/>
              <a:t>4a · Contas da equipe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 sz="1600"/>
              <a:t>4b · Ajustes da IA (em teste)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7200" y="53492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5727E"/>
                </a:solidFill>
                <a:latin typeface="Arial"/>
              </a:rPr>
              <a:t>125 testes automáticos cobrem as etapas concluídas</a:t>
            </a:r>
          </a:p>
        </p:txBody>
      </p:sp>
    </p:spTree>
    <p:extLst>
      <p:ext uri="{BB962C8B-B14F-4D97-AF65-F5344CB8AC3E}">
        <p14:creationId xmlns:p14="http://schemas.microsoft.com/office/powerpoint/2010/main" val="355064096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Shape 1"/>
          <p:cNvSpPr txBox="1"/>
          <p:nvPr/>
        </p:nvSpPr>
        <p:spPr>
          <a:xfrm>
            <a:off x="457200" y="119664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trike="noStrike" spc="-1" dirty="0">
                <a:solidFill>
                  <a:srgbClr val="000000"/>
                </a:solidFill>
                <a:latin typeface="Segoe UI Semibold"/>
                <a:ea typeface="Trebuchet MS"/>
              </a:rPr>
              <a:t>REFERÊNCIAS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BRASIL. Lei nº 13.709, de 14 de agosto de 2018. </a:t>
            </a:r>
            <a:r>
              <a:rPr sz="1100" b="1" i="0">
                <a:solidFill>
                  <a:srgbClr val="000000"/>
                </a:solidFill>
                <a:latin typeface="Arial"/>
              </a:rPr>
              <a:t>Lei Geral de Proteção de Dados Pessoais (LGPD)</a:t>
            </a:r>
            <a:r>
              <a:rPr sz="1100" b="0" i="0">
                <a:solidFill>
                  <a:srgbClr val="000000"/>
                </a:solidFill>
                <a:latin typeface="Arial"/>
              </a:rPr>
              <a:t>. Brasília, DF: Presidência da República, 2018. Disponível em: https://www.planalto.gov.br/ccivil_03/_ato2015-2018/2018/lei/l13709.htm. Acesso em: 11 out. 2026.</a:t>
            </a:r>
          </a:p>
          <a:p>
            <a:pPr algn="l">
              <a:spcBef>
                <a:spcPts val="900"/>
              </a:spcBef>
            </a:pPr>
            <a:r>
              <a:rPr sz="1100" b="0" i="0">
                <a:solidFill>
                  <a:srgbClr val="000000"/>
                </a:solidFill>
                <a:latin typeface="Arial"/>
              </a:rPr>
              <a:t>DENG, Jiankang; GUO, Jia; XUE, Niannan; ZAFEIRIOU, Stefanos. ArcFace: additive angular margin loss for deep face recognition. In: IEEE/CVF CONFERENCE ON COMPUTER VISION AND PATTERN RECOGNITION, 2019, Long Beach. </a:t>
            </a:r>
            <a:r>
              <a:rPr sz="1100" b="1" i="0">
                <a:solidFill>
                  <a:srgbClr val="000000"/>
                </a:solidFill>
                <a:latin typeface="Arial"/>
              </a:rPr>
              <a:t>Proceedings</a:t>
            </a:r>
            <a:r>
              <a:rPr sz="1100" b="0" i="0">
                <a:solidFill>
                  <a:srgbClr val="000000"/>
                </a:solidFill>
                <a:latin typeface="Arial"/>
              </a:rPr>
              <a:t> [...]. Long Beach: IEEE, 2019. p. 4690-4699.</a:t>
            </a:r>
          </a:p>
          <a:p>
            <a:pPr algn="l">
              <a:spcBef>
                <a:spcPts val="900"/>
              </a:spcBef>
            </a:pPr>
            <a:r>
              <a:rPr sz="1100" b="0" i="0">
                <a:solidFill>
                  <a:srgbClr val="000000"/>
                </a:solidFill>
                <a:latin typeface="Arial"/>
              </a:rPr>
              <a:t>EXPO. </a:t>
            </a:r>
            <a:r>
              <a:rPr sz="1100" b="1" i="0">
                <a:solidFill>
                  <a:srgbClr val="000000"/>
                </a:solidFill>
                <a:latin typeface="Arial"/>
              </a:rPr>
              <a:t>Expo Documentation</a:t>
            </a:r>
            <a:r>
              <a:rPr sz="1100" b="0" i="0">
                <a:solidFill>
                  <a:srgbClr val="000000"/>
                </a:solidFill>
                <a:latin typeface="Arial"/>
              </a:rPr>
              <a:t>. [S. l.]: 650 Industries, 2026. Disponível em: https://docs.expo.dev. Acesso em: 11 out. 2026.</a:t>
            </a:r>
          </a:p>
          <a:p>
            <a:pPr algn="l">
              <a:spcBef>
                <a:spcPts val="900"/>
              </a:spcBef>
            </a:pPr>
            <a:r>
              <a:rPr sz="1100" b="0" i="0">
                <a:solidFill>
                  <a:srgbClr val="000000"/>
                </a:solidFill>
                <a:latin typeface="Arial"/>
              </a:rPr>
              <a:t>GUO, Jia; DENG, Jiankang; LATTAS, Alexandros; ZAFEIRIOU, Stefanos. Sample and computation redistribution for efficient face detection. In: INTERNATIONAL CONFERENCE ON LEARNING REPRESENTATIONS, 10., 2022, [S. l.]. </a:t>
            </a:r>
            <a:r>
              <a:rPr sz="1100" b="1" i="0">
                <a:solidFill>
                  <a:srgbClr val="000000"/>
                </a:solidFill>
                <a:latin typeface="Arial"/>
              </a:rPr>
              <a:t>Proceedings</a:t>
            </a:r>
            <a:r>
              <a:rPr sz="1100" b="0" i="0">
                <a:solidFill>
                  <a:srgbClr val="000000"/>
                </a:solidFill>
                <a:latin typeface="Arial"/>
              </a:rPr>
              <a:t> [...]. [S. l.]: ICLR, 2022. Disponível em: https://mlanthology.org/iclr/2022/guo2022iclr-sample/. Acesso em: 11 out. 2026.</a:t>
            </a:r>
          </a:p>
          <a:p>
            <a:pPr algn="l">
              <a:spcBef>
                <a:spcPts val="900"/>
              </a:spcBef>
            </a:pPr>
            <a:r>
              <a:rPr sz="1100" b="0" i="0">
                <a:solidFill>
                  <a:srgbClr val="000000"/>
                </a:solidFill>
                <a:latin typeface="Arial"/>
              </a:rPr>
              <a:t>INSIGHTFACE. </a:t>
            </a:r>
            <a:r>
              <a:rPr sz="1100" b="1" i="0">
                <a:solidFill>
                  <a:srgbClr val="000000"/>
                </a:solidFill>
                <a:latin typeface="Arial"/>
              </a:rPr>
              <a:t>InsightFace</a:t>
            </a:r>
            <a:r>
              <a:rPr sz="1100" b="0" i="0">
                <a:solidFill>
                  <a:srgbClr val="000000"/>
                </a:solidFill>
                <a:latin typeface="Arial"/>
              </a:rPr>
              <a:t>: state-of-the-art 2D and 3D face analysis project. [S. l.], 2026. Disponível em: https://github.com/deepinsight/insightface. Acesso em: 11 out. 2026.</a:t>
            </a:r>
          </a:p>
          <a:p>
            <a:pPr algn="l">
              <a:spcBef>
                <a:spcPts val="900"/>
              </a:spcBef>
            </a:pPr>
            <a:r>
              <a:rPr sz="1100" b="0" i="0">
                <a:solidFill>
                  <a:srgbClr val="000000"/>
                </a:solidFill>
                <a:latin typeface="Arial"/>
              </a:rPr>
              <a:t>KANE, Andrew. </a:t>
            </a:r>
            <a:r>
              <a:rPr sz="1100" b="1" i="0">
                <a:solidFill>
                  <a:srgbClr val="000000"/>
                </a:solidFill>
                <a:latin typeface="Arial"/>
              </a:rPr>
              <a:t>pgvector</a:t>
            </a:r>
            <a:r>
              <a:rPr sz="1100" b="0" i="0">
                <a:solidFill>
                  <a:srgbClr val="000000"/>
                </a:solidFill>
                <a:latin typeface="Arial"/>
              </a:rPr>
              <a:t>: open-source vector similarity search for Postgres. [S. l.], 2026. Disponível em: https://github.com/pgvector/pgvector. Acesso em: 11 out. 2026.</a:t>
            </a:r>
          </a:p>
          <a:p>
            <a:pPr algn="l">
              <a:spcBef>
                <a:spcPts val="900"/>
              </a:spcBef>
            </a:pPr>
            <a:r>
              <a:rPr sz="1100" b="0" i="0">
                <a:solidFill>
                  <a:srgbClr val="000000"/>
                </a:solidFill>
                <a:latin typeface="Arial"/>
              </a:rPr>
              <a:t>MONTALA. </a:t>
            </a:r>
            <a:r>
              <a:rPr sz="1100" b="1" i="0">
                <a:solidFill>
                  <a:srgbClr val="000000"/>
                </a:solidFill>
                <a:latin typeface="Arial"/>
              </a:rPr>
              <a:t>AI Faces (InsightFace)</a:t>
            </a:r>
            <a:r>
              <a:rPr sz="1100" b="0" i="0">
                <a:solidFill>
                  <a:srgbClr val="000000"/>
                </a:solidFill>
                <a:latin typeface="Arial"/>
              </a:rPr>
              <a:t>. ResourceSpace Knowledge Base. [S. l.], 2026. Disponível em: https://www.resourcespace.com/knowledge-base/plugins/faces. Acesso em: 11 out. 2026.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" name="TextShape 2"/>
          <p:cNvSpPr txBox="1"/>
          <p:nvPr/>
        </p:nvSpPr>
        <p:spPr>
          <a:xfrm>
            <a:off x="457200" y="73152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trike="noStrike" spc="-1" dirty="0">
                <a:solidFill>
                  <a:srgbClr val="000000"/>
                </a:solidFill>
                <a:latin typeface="Segoe UI Semibold"/>
                <a:ea typeface="Trebuchet MS"/>
              </a:rPr>
              <a:t>Arquitetura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2743200" y="1783080"/>
            <a:ext cx="3657600" cy="731520"/>
          </a:xfrm>
          <a:prstGeom prst="roundRect">
            <a:avLst>
              <a:gd name="adj" fmla="val 15000"/>
            </a:avLst>
          </a:prstGeom>
          <a:solidFill>
            <a:srgbClr val="F5F7F9"/>
          </a:solidFill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2834640" y="1783080"/>
            <a:ext cx="3474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334155"/>
                </a:solidFill>
                <a:latin typeface="Arial"/>
              </a:rPr>
              <a:t>Site · Expo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1E2933"/>
                </a:solidFill>
                <a:latin typeface="Arial"/>
              </a:rPr>
              <a:t>o que a pessoa vê no navegador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22960" y="2926080"/>
            <a:ext cx="7498079" cy="777240"/>
          </a:xfrm>
          <a:prstGeom prst="roundRect">
            <a:avLst>
              <a:gd name="adj" fmla="val 14117"/>
            </a:avLst>
          </a:prstGeom>
          <a:solidFill>
            <a:srgbClr val="E8F5FC"/>
          </a:solidFill>
          <a:ln w="19050">
            <a:solidFill>
              <a:srgbClr val="007D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914400" y="2926080"/>
            <a:ext cx="731519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07DC5"/>
                </a:solidFill>
                <a:latin typeface="Arial"/>
              </a:rPr>
              <a:t>API · Python + FastAPI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1E2933"/>
                </a:solidFill>
                <a:latin typeface="Arial"/>
              </a:rPr>
              <a:t>recebe todo pedido, confere a permissão e decide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57200" y="4206240"/>
            <a:ext cx="2606040" cy="960120"/>
          </a:xfrm>
          <a:prstGeom prst="roundRect">
            <a:avLst>
              <a:gd name="adj" fmla="val 11428"/>
            </a:avLst>
          </a:prstGeom>
          <a:solidFill>
            <a:srgbClr val="E8F7F0"/>
          </a:solidFill>
          <a:ln w="19050">
            <a:solidFill>
              <a:srgbClr val="238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548640" y="4206240"/>
            <a:ext cx="2423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3855B"/>
                </a:solidFill>
                <a:latin typeface="Arial"/>
              </a:rPr>
              <a:t>PostgreSQL + pgvector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1E2933"/>
                </a:solidFill>
                <a:latin typeface="Arial"/>
              </a:rPr>
              <a:t>fichas e vetores de rosto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268980" y="4206240"/>
            <a:ext cx="2606040" cy="960120"/>
          </a:xfrm>
          <a:prstGeom prst="roundRect">
            <a:avLst>
              <a:gd name="adj" fmla="val 11428"/>
            </a:avLst>
          </a:prstGeom>
          <a:solidFill>
            <a:srgbClr val="F1ECFD"/>
          </a:solidFill>
          <a:ln w="19050">
            <a:solidFill>
              <a:srgbClr val="6D28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3360420" y="4206240"/>
            <a:ext cx="2423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6D28D9"/>
                </a:solidFill>
                <a:latin typeface="Arial"/>
              </a:rPr>
              <a:t>InsightFace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1E2933"/>
                </a:solidFill>
                <a:latin typeface="Arial"/>
              </a:rPr>
              <a:t>reconhece os rostos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080760" y="4206240"/>
            <a:ext cx="2606040" cy="960120"/>
          </a:xfrm>
          <a:prstGeom prst="roundRect">
            <a:avLst>
              <a:gd name="adj" fmla="val 11428"/>
            </a:avLst>
          </a:prstGeom>
          <a:solidFill>
            <a:srgbClr val="FFF4D6"/>
          </a:solidFill>
          <a:ln w="19050">
            <a:solidFill>
              <a:srgbClr val="9A6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172200" y="4206240"/>
            <a:ext cx="2423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9A6500"/>
                </a:solidFill>
                <a:latin typeface="Arial"/>
              </a:rPr>
              <a:t>SeaweedFS</a:t>
            </a:r>
          </a:p>
          <a:p>
            <a:pPr algn="ctr">
              <a:spcBef>
                <a:spcPts val="200"/>
              </a:spcBef>
            </a:pPr>
            <a:r>
              <a:rPr sz="1300" b="0" i="0">
                <a:solidFill>
                  <a:srgbClr val="1E2933"/>
                </a:solidFill>
                <a:latin typeface="Arial"/>
              </a:rPr>
              <a:t>guarda as fotos (S3)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4572000" y="2514600"/>
            <a:ext cx="0" cy="384048"/>
          </a:xfrm>
          <a:prstGeom prst="line">
            <a:avLst/>
          </a:prstGeom>
          <a:ln w="22225">
            <a:solidFill>
              <a:srgbClr val="6572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4709160" y="25603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5727E"/>
                </a:solidFill>
                <a:latin typeface="Arial"/>
              </a:rPr>
              <a:t>HTTP · JSON</a:t>
            </a:r>
          </a:p>
        </p:txBody>
      </p:sp>
      <p:cxnSp>
        <p:nvCxnSpPr>
          <p:cNvPr id="104" name="Connector 103"/>
          <p:cNvCxnSpPr/>
          <p:nvPr/>
        </p:nvCxnSpPr>
        <p:spPr>
          <a:xfrm flipH="1">
            <a:off x="1764792" y="3703320"/>
            <a:ext cx="246888" cy="475488"/>
          </a:xfrm>
          <a:prstGeom prst="line">
            <a:avLst/>
          </a:prstGeom>
          <a:ln w="22225">
            <a:solidFill>
              <a:srgbClr val="6572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4572000" y="3703320"/>
            <a:ext cx="0" cy="475488"/>
          </a:xfrm>
          <a:prstGeom prst="line">
            <a:avLst/>
          </a:prstGeom>
          <a:ln w="22225">
            <a:solidFill>
              <a:srgbClr val="6572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7132320" y="3703320"/>
            <a:ext cx="246888" cy="475488"/>
          </a:xfrm>
          <a:prstGeom prst="line">
            <a:avLst/>
          </a:prstGeom>
          <a:ln w="22225">
            <a:solidFill>
              <a:srgbClr val="6572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2286000" y="53035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6D28D9"/>
                </a:solidFill>
                <a:latin typeface="Arial"/>
              </a:rPr>
              <a:t>adaptador: troca a IA sem mexer no resto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" name="TextShape 2"/>
          <p:cNvSpPr txBox="1"/>
          <p:nvPr/>
        </p:nvSpPr>
        <p:spPr>
          <a:xfrm>
            <a:off x="457200" y="73152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trike="noStrike" spc="-1" dirty="0">
                <a:solidFill>
                  <a:srgbClr val="000000"/>
                </a:solidFill>
                <a:latin typeface="Segoe UI Semibold"/>
                <a:ea typeface="Trebuchet MS"/>
              </a:rPr>
              <a:t>Reconhecimento facial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457200" y="1874519"/>
            <a:ext cx="1828800" cy="1051560"/>
          </a:xfrm>
          <a:prstGeom prst="roundRect">
            <a:avLst>
              <a:gd name="adj" fmla="val 10434"/>
            </a:avLst>
          </a:prstGeom>
          <a:solidFill>
            <a:srgbClr val="F1ECFD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548640" y="1874519"/>
            <a:ext cx="1645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6D28D9"/>
                </a:solidFill>
                <a:latin typeface="Arial"/>
              </a:rPr>
              <a:t>Detecta</a:t>
            </a:r>
          </a:p>
          <a:p>
            <a:pPr algn="ctr">
              <a:spcBef>
                <a:spcPts val="200"/>
              </a:spcBef>
            </a:pPr>
            <a:r>
              <a:rPr sz="1200" b="0" i="0">
                <a:solidFill>
                  <a:srgbClr val="1E2933"/>
                </a:solidFill>
                <a:latin typeface="Arial"/>
              </a:rPr>
              <a:t>SCRFD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2322576" y="2400300"/>
            <a:ext cx="231343" cy="0"/>
          </a:xfrm>
          <a:prstGeom prst="line">
            <a:avLst/>
          </a:prstGeom>
          <a:ln w="22225">
            <a:solidFill>
              <a:srgbClr val="6572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2590495" y="1874519"/>
            <a:ext cx="1828800" cy="1051560"/>
          </a:xfrm>
          <a:prstGeom prst="roundRect">
            <a:avLst>
              <a:gd name="adj" fmla="val 10434"/>
            </a:avLst>
          </a:prstGeom>
          <a:solidFill>
            <a:srgbClr val="F1ECFD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2681935" y="1874519"/>
            <a:ext cx="1645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6D28D9"/>
                </a:solidFill>
                <a:latin typeface="Arial"/>
              </a:rPr>
              <a:t>Alinha</a:t>
            </a:r>
          </a:p>
          <a:p>
            <a:pPr algn="ctr">
              <a:spcBef>
                <a:spcPts val="200"/>
              </a:spcBef>
            </a:pPr>
            <a:r>
              <a:rPr sz="1200" b="0" i="0">
                <a:solidFill>
                  <a:srgbClr val="1E2933"/>
                </a:solidFill>
                <a:latin typeface="Arial"/>
              </a:rPr>
              <a:t>olhos no lugar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4455871" y="2400300"/>
            <a:ext cx="231343" cy="0"/>
          </a:xfrm>
          <a:prstGeom prst="line">
            <a:avLst/>
          </a:prstGeom>
          <a:ln w="22225">
            <a:solidFill>
              <a:srgbClr val="6572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4723790" y="1874519"/>
            <a:ext cx="1828800" cy="1051560"/>
          </a:xfrm>
          <a:prstGeom prst="roundRect">
            <a:avLst>
              <a:gd name="adj" fmla="val 10434"/>
            </a:avLst>
          </a:prstGeom>
          <a:solidFill>
            <a:srgbClr val="F1ECFD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4815230" y="1874519"/>
            <a:ext cx="1645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6D28D9"/>
                </a:solidFill>
                <a:latin typeface="Arial"/>
              </a:rPr>
              <a:t>Gera o vetor</a:t>
            </a:r>
          </a:p>
          <a:p>
            <a:pPr algn="ctr">
              <a:spcBef>
                <a:spcPts val="200"/>
              </a:spcBef>
            </a:pPr>
            <a:r>
              <a:rPr sz="1200" b="0" i="0">
                <a:solidFill>
                  <a:srgbClr val="1E2933"/>
                </a:solidFill>
                <a:latin typeface="Arial"/>
              </a:rPr>
              <a:t>ArcFace · 512 números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6589166" y="2400300"/>
            <a:ext cx="231343" cy="0"/>
          </a:xfrm>
          <a:prstGeom prst="line">
            <a:avLst/>
          </a:prstGeom>
          <a:ln w="22225">
            <a:solidFill>
              <a:srgbClr val="65727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6857085" y="1874519"/>
            <a:ext cx="1828800" cy="1051560"/>
          </a:xfrm>
          <a:prstGeom prst="roundRect">
            <a:avLst>
              <a:gd name="adj" fmla="val 10434"/>
            </a:avLst>
          </a:prstGeom>
          <a:solidFill>
            <a:srgbClr val="E8F5FC"/>
          </a:solidFill>
          <a:ln w="19050">
            <a:solidFill>
              <a:srgbClr val="007D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6948525" y="1874519"/>
            <a:ext cx="164592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07DC5"/>
                </a:solidFill>
                <a:latin typeface="Arial"/>
              </a:rPr>
              <a:t>Compara</a:t>
            </a:r>
          </a:p>
          <a:p>
            <a:pPr algn="ctr">
              <a:spcBef>
                <a:spcPts val="200"/>
              </a:spcBef>
            </a:pPr>
            <a:r>
              <a:rPr sz="1200" b="0" i="0">
                <a:solidFill>
                  <a:srgbClr val="1E2933"/>
                </a:solidFill>
                <a:latin typeface="Arial"/>
              </a:rPr>
              <a:t>similaridade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7200" y="3429000"/>
            <a:ext cx="2194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007DC5"/>
                </a:solidFill>
                <a:latin typeface="Arial"/>
              </a:rPr>
              <a:t>0,30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43200" y="356616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E2933"/>
                </a:solidFill>
                <a:latin typeface="Arial"/>
              </a:rPr>
              <a:t>limiar de similaridade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65727E"/>
                </a:solidFill>
                <a:latin typeface="Arial"/>
              </a:rPr>
              <a:t>abaixo dele, a foto não aparece: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65727E"/>
                </a:solidFill>
                <a:latin typeface="Arial"/>
              </a:rPr>
              <a:t>melhor não mostrar do que mostrar a foto errada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309360" y="489204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1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6309360" y="489204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6D28D9"/>
                </a:solidFill>
                <a:latin typeface="Arial"/>
              </a:rPr>
              <a:t>InsightFace buffalo_l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" name="TextShape 2"/>
          <p:cNvSpPr txBox="1"/>
          <p:nvPr/>
        </p:nvSpPr>
        <p:spPr>
          <a:xfrm>
            <a:off x="457200" y="73152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trike="noStrike" spc="-1" dirty="0">
                <a:solidFill>
                  <a:srgbClr val="000000"/>
                </a:solidFill>
                <a:latin typeface="Segoe UI Semibold"/>
                <a:ea typeface="Trebuchet MS"/>
              </a:rPr>
              <a:t>Escolha da IA: Teste 1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5727E"/>
                </a:solidFill>
                <a:latin typeface="Arial"/>
              </a:rPr>
              <a:t>Nota no Teste 1 (0 a 100)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" y="2103120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E2933"/>
                </a:solidFill>
                <a:latin typeface="Arial"/>
              </a:rPr>
              <a:t>InsightFace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148840" y="2103120"/>
            <a:ext cx="3212835" cy="420624"/>
          </a:xfrm>
          <a:prstGeom prst="roundRect">
            <a:avLst>
              <a:gd name="adj" fmla="val 10869"/>
            </a:avLst>
          </a:prstGeom>
          <a:solidFill>
            <a:srgbClr val="007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5453115" y="2103120"/>
            <a:ext cx="731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7DC5"/>
                </a:solidFill>
                <a:latin typeface="Arial"/>
              </a:rPr>
              <a:t>97,6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" y="2706624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1E2933"/>
                </a:solidFill>
                <a:latin typeface="Arial"/>
              </a:rPr>
              <a:t>YuNet + SFace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148840" y="2706624"/>
            <a:ext cx="2946196" cy="420624"/>
          </a:xfrm>
          <a:prstGeom prst="roundRect">
            <a:avLst>
              <a:gd name="adj" fmla="val 10869"/>
            </a:avLst>
          </a:prstGeom>
          <a:solidFill>
            <a:srgbClr val="C9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5186476" y="2706624"/>
            <a:ext cx="731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3"/>
                </a:solidFill>
                <a:latin typeface="Arial"/>
              </a:rPr>
              <a:t>89,5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" y="3310128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1E2933"/>
                </a:solidFill>
                <a:latin typeface="Arial"/>
              </a:rPr>
              <a:t>ArcFace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2148840" y="3310128"/>
            <a:ext cx="2106777" cy="420624"/>
          </a:xfrm>
          <a:prstGeom prst="roundRect">
            <a:avLst>
              <a:gd name="adj" fmla="val 10869"/>
            </a:avLst>
          </a:prstGeom>
          <a:solidFill>
            <a:srgbClr val="C9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4347057" y="3310128"/>
            <a:ext cx="731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3"/>
                </a:solidFill>
                <a:latin typeface="Arial"/>
              </a:rPr>
              <a:t>64,0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57200" y="3913631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1E2933"/>
                </a:solidFill>
                <a:latin typeface="Arial"/>
              </a:rPr>
              <a:t>Facenet512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148840" y="3913631"/>
            <a:ext cx="1984979" cy="420624"/>
          </a:xfrm>
          <a:prstGeom prst="roundRect">
            <a:avLst>
              <a:gd name="adj" fmla="val 10869"/>
            </a:avLst>
          </a:prstGeom>
          <a:solidFill>
            <a:srgbClr val="C9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4225259" y="3913631"/>
            <a:ext cx="731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3"/>
                </a:solidFill>
                <a:latin typeface="Arial"/>
              </a:rPr>
              <a:t>60,3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7200" y="4517136"/>
            <a:ext cx="15544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0" i="0">
                <a:solidFill>
                  <a:srgbClr val="1E2933"/>
                </a:solidFill>
                <a:latin typeface="Arial"/>
              </a:rPr>
              <a:t>VGG-Face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148840" y="4517136"/>
            <a:ext cx="1879640" cy="420624"/>
          </a:xfrm>
          <a:prstGeom prst="roundRect">
            <a:avLst>
              <a:gd name="adj" fmla="val 10869"/>
            </a:avLst>
          </a:prstGeom>
          <a:solidFill>
            <a:srgbClr val="C9D3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4119920" y="4517136"/>
            <a:ext cx="7315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933"/>
                </a:solidFill>
                <a:latin typeface="Arial"/>
              </a:rPr>
              <a:t>57,1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309360" y="201168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07DC5"/>
                </a:solidFill>
                <a:latin typeface="Arial"/>
              </a:rPr>
              <a:t>388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309360" y="267004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5727E"/>
                </a:solidFill>
                <a:latin typeface="Arial"/>
              </a:rPr>
              <a:t>fotos reais conferidas à mão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309360" y="333756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007DC5"/>
                </a:solidFill>
                <a:latin typeface="Arial"/>
              </a:rPr>
              <a:t>7 × 203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09360" y="39959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5727E"/>
                </a:solidFill>
                <a:latin typeface="Arial"/>
              </a:rPr>
              <a:t>fotos erradas no topo: 1º × 2º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309360" y="484632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5727E"/>
                </a:solidFill>
                <a:latin typeface="Arial"/>
              </a:rPr>
              <a:t>5 tecnologias · fotos de formatura · fotomac-lab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" name="TextShape 2"/>
          <p:cNvSpPr txBox="1"/>
          <p:nvPr/>
        </p:nvSpPr>
        <p:spPr>
          <a:xfrm>
            <a:off x="457200" y="73152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3800" b="1" strike="noStrike" spc="-1" dirty="0">
                <a:solidFill>
                  <a:srgbClr val="000000"/>
                </a:solidFill>
                <a:latin typeface="Segoe UI Semibold"/>
                <a:ea typeface="Trebuchet MS"/>
              </a:rPr>
              <a:t>Por que não uma IA generativa?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2286000" y="1783080"/>
            <a:ext cx="3154680" cy="640080"/>
          </a:xfrm>
          <a:prstGeom prst="roundRect">
            <a:avLst>
              <a:gd name="adj" fmla="val 11428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2286000" y="1783080"/>
            <a:ext cx="3154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9A6500"/>
                </a:solidFill>
                <a:latin typeface="Arial"/>
              </a:rPr>
              <a:t>IA generativa</a:t>
            </a:r>
          </a:p>
          <a:p>
            <a:pPr algn="ctr"/>
            <a:r>
              <a:rPr sz="1100" b="0" i="0">
                <a:solidFill>
                  <a:srgbClr val="9A6500"/>
                </a:solidFill>
                <a:latin typeface="Arial"/>
              </a:rPr>
              <a:t>ChatGPT · Gemini · Llama Vision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532120" y="1783080"/>
            <a:ext cx="3154680" cy="640080"/>
          </a:xfrm>
          <a:prstGeom prst="roundRect">
            <a:avLst>
              <a:gd name="adj" fmla="val 11428"/>
            </a:avLst>
          </a:prstGeom>
          <a:solidFill>
            <a:srgbClr val="007D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5532120" y="1783080"/>
            <a:ext cx="3154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InsightFace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IA especializada em rosto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57200" y="3291839"/>
            <a:ext cx="8229600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57200" y="2560320"/>
            <a:ext cx="17373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72D44"/>
                </a:solidFill>
                <a:latin typeface="Arial"/>
              </a:rPr>
              <a:t>Máquina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377440" y="2560320"/>
            <a:ext cx="2971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5727E"/>
                </a:solidFill>
                <a:latin typeface="Arial"/>
              </a:rPr>
              <a:t>GPU com 11 a 22 GB de memória¹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23559" y="2560320"/>
            <a:ext cx="2971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07DC5"/>
                </a:solidFill>
                <a:latin typeface="Arial"/>
              </a:rPr>
              <a:t>Só processador · ~1 GB de RAM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457200" y="4069080"/>
            <a:ext cx="8229600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457200" y="3337560"/>
            <a:ext cx="17373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72D44"/>
                </a:solidFill>
                <a:latin typeface="Arial"/>
              </a:rPr>
              <a:t>Resposta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77440" y="3337560"/>
            <a:ext cx="2971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5727E"/>
                </a:solidFill>
                <a:latin typeface="Arial"/>
              </a:rPr>
              <a:t>Texto livre, que varia e pode errar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23559" y="3337560"/>
            <a:ext cx="2971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07DC5"/>
                </a:solidFill>
                <a:latin typeface="Arial"/>
              </a:rPr>
              <a:t>512 números, sempre os mesmos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57200" y="4846320"/>
            <a:ext cx="8229600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57200" y="4114800"/>
            <a:ext cx="17373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72D44"/>
                </a:solidFill>
                <a:latin typeface="Arial"/>
              </a:rPr>
              <a:t>Busca em 1.000 fotos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377440" y="4114800"/>
            <a:ext cx="2971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5727E"/>
                </a:solidFill>
                <a:latin typeface="Arial"/>
              </a:rPr>
              <a:t>Rever as fotos a cada busca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23559" y="4114800"/>
            <a:ext cx="2971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07DC5"/>
                </a:solidFill>
                <a:latin typeface="Arial"/>
              </a:rPr>
              <a:t>Calcula uma vez, ao publicar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457200" y="5623559"/>
            <a:ext cx="8229600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457200" y="4892040"/>
            <a:ext cx="17373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72D44"/>
                </a:solidFill>
                <a:latin typeface="Arial"/>
              </a:rPr>
              <a:t>Privacidade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377440" y="4892040"/>
            <a:ext cx="2971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65727E"/>
                </a:solidFill>
                <a:latin typeface="Arial"/>
              </a:rPr>
              <a:t>Na nuvem, o rosto vai para outra empresa, fora do país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623559" y="4892040"/>
            <a:ext cx="2971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007DC5"/>
                </a:solidFill>
                <a:latin typeface="Arial"/>
              </a:rPr>
              <a:t>O rosto não sai do servidor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57200" y="5715000"/>
            <a:ext cx="8229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5727E"/>
                </a:solidFill>
                <a:latin typeface="Arial"/>
              </a:rPr>
              <a:t>¹ Llama 3.2 Vision 11B rodando local (estimativa WILL IT RUN AI, 2026). InsightFace medido neste projeto: 0,13 s por foto, notebook sem GPU.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" name="TextShape 2"/>
          <p:cNvSpPr txBox="1"/>
          <p:nvPr/>
        </p:nvSpPr>
        <p:spPr>
          <a:xfrm>
            <a:off x="457200" y="73152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trike="noStrike" spc="-1" dirty="0">
                <a:solidFill>
                  <a:srgbClr val="000000"/>
                </a:solidFill>
                <a:latin typeface="Segoe UI Semibold"/>
                <a:ea typeface="Trebuchet MS"/>
              </a:rPr>
              <a:t>Licença do InsightFace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DC5"/>
                </a:solidFill>
                <a:latin typeface="Arial"/>
              </a:rPr>
              <a:t>Livre para pesquisar, licenciado para operar</a:t>
            </a:r>
          </a:p>
        </p:txBody>
      </p:sp>
      <p:pic>
        <p:nvPicPr>
          <p:cNvPr id="93" name="Picture 92" descr="Captura de tela Representação visual Insight face (explicação breve e visual do insight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40280"/>
            <a:ext cx="4206240" cy="242618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457200" y="469087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5727E"/>
                </a:solidFill>
                <a:latin typeface="Arial"/>
              </a:rPr>
              <a:t>insightface.ai: a empresa vende licença para uso comercial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892040" y="2286000"/>
            <a:ext cx="64008" cy="621792"/>
          </a:xfrm>
          <a:prstGeom prst="roundRect">
            <a:avLst>
              <a:gd name="adj" fmla="val 42857"/>
            </a:avLst>
          </a:prstGeom>
          <a:solidFill>
            <a:srgbClr val="238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5074920" y="2286000"/>
            <a:ext cx="3611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2D44"/>
                </a:solidFill>
                <a:latin typeface="Arial"/>
              </a:rPr>
              <a:t>Código: MIT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65727E"/>
                </a:solidFill>
                <a:latin typeface="Arial"/>
              </a:rPr>
              <a:t>livre, inclusive para uso comercial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892040" y="3108960"/>
            <a:ext cx="64008" cy="621792"/>
          </a:xfrm>
          <a:prstGeom prst="roundRect">
            <a:avLst>
              <a:gd name="adj" fmla="val 42857"/>
            </a:avLst>
          </a:prstGeom>
          <a:solidFill>
            <a:srgbClr val="238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5074920" y="3108960"/>
            <a:ext cx="3611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2D44"/>
                </a:solidFill>
                <a:latin typeface="Arial"/>
              </a:rPr>
              <a:t>Modelos treinados: só pesquisa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65727E"/>
                </a:solidFill>
                <a:latin typeface="Arial"/>
              </a:rPr>
              <a:t>o buffalo_l deste TCC está coberto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4892040" y="3931920"/>
            <a:ext cx="64008" cy="621792"/>
          </a:xfrm>
          <a:prstGeom prst="roundRect">
            <a:avLst>
              <a:gd name="adj" fmla="val 42857"/>
            </a:avLst>
          </a:prstGeom>
          <a:solidFill>
            <a:srgbClr val="9A6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5074920" y="3931920"/>
            <a:ext cx="3611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2D44"/>
                </a:solidFill>
                <a:latin typeface="Arial"/>
              </a:rPr>
              <a:t>Operar no CESMAC: exige licença</a:t>
            </a:r>
          </a:p>
          <a:p>
            <a:pPr algn="l">
              <a:spcBef>
                <a:spcPts val="200"/>
              </a:spcBef>
            </a:pPr>
            <a:r>
              <a:rPr sz="1300" b="0" i="0">
                <a:solidFill>
                  <a:srgbClr val="65727E"/>
                </a:solidFill>
                <a:latin typeface="Arial"/>
              </a:rPr>
              <a:t>decisão da instituição, não do TCC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57200" y="50749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E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640080" y="5074920"/>
            <a:ext cx="7863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72D44"/>
                </a:solidFill>
                <a:latin typeface="Arial"/>
              </a:rPr>
              <a:t>Plano B já medido: YuNet + SFace (licenças MIT e Apache 2.0, uso comercial livre), nota 89,5 no Teste 1. O adaptador troca o modelo sem reescrever o sistema.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" name="TextShape 2"/>
          <p:cNvSpPr txBox="1"/>
          <p:nvPr/>
        </p:nvSpPr>
        <p:spPr>
          <a:xfrm>
            <a:off x="457200" y="73152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trike="noStrike" spc="-1" dirty="0">
                <a:solidFill>
                  <a:srgbClr val="000000"/>
                </a:solidFill>
                <a:latin typeface="Segoe UI Semibold"/>
                <a:ea typeface="Trebuchet MS"/>
              </a:rPr>
              <a:t>LGPD desde o desenho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457200" y="182880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5F7F9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685800" y="2286000"/>
            <a:ext cx="594360" cy="594360"/>
          </a:xfrm>
          <a:prstGeom prst="ellipse">
            <a:avLst/>
          </a:prstGeom>
          <a:solidFill>
            <a:srgbClr val="238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63040" y="2103120"/>
            <a:ext cx="28803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72D44"/>
                </a:solidFill>
                <a:latin typeface="Arial"/>
              </a:rPr>
              <a:t>A selfie nunca é guardada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65727E"/>
                </a:solidFill>
                <a:latin typeface="Arial"/>
              </a:rPr>
              <a:t>compara e descarta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663440" y="182880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5F7F9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4892040" y="2286000"/>
            <a:ext cx="594360" cy="594360"/>
          </a:xfrm>
          <a:prstGeom prst="ellipse">
            <a:avLst/>
          </a:prstGeom>
          <a:solidFill>
            <a:srgbClr val="238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79" y="2103120"/>
            <a:ext cx="28803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72D44"/>
                </a:solidFill>
                <a:latin typeface="Arial"/>
              </a:rPr>
              <a:t>Sem vetor antes de publicar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65727E"/>
                </a:solidFill>
                <a:latin typeface="Arial"/>
              </a:rPr>
              <a:t>foto descartada nunca vira biometria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7200" y="36118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5F7F9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685800" y="4069080"/>
            <a:ext cx="594360" cy="594360"/>
          </a:xfrm>
          <a:prstGeom prst="ellipse">
            <a:avLst/>
          </a:prstGeom>
          <a:solidFill>
            <a:srgbClr val="238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463040" y="3886200"/>
            <a:ext cx="28803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72D44"/>
                </a:solidFill>
                <a:latin typeface="Arial"/>
              </a:rPr>
              <a:t>Busca só dentro do evento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65727E"/>
                </a:solidFill>
                <a:latin typeface="Arial"/>
              </a:rPr>
              <a:t>nunca no acervo inteiro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663440" y="3611880"/>
            <a:ext cx="4023360" cy="1600200"/>
          </a:xfrm>
          <a:prstGeom prst="roundRect">
            <a:avLst>
              <a:gd name="adj" fmla="val 6857"/>
            </a:avLst>
          </a:prstGeom>
          <a:solidFill>
            <a:srgbClr val="F5F7F9"/>
          </a:solidFill>
          <a:ln w="952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4892040" y="4069080"/>
            <a:ext cx="594360" cy="594360"/>
          </a:xfrm>
          <a:prstGeom prst="ellipse">
            <a:avLst/>
          </a:prstGeom>
          <a:solidFill>
            <a:srgbClr val="238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69279" y="3886200"/>
            <a:ext cx="28803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72D44"/>
                </a:solidFill>
                <a:latin typeface="Arial"/>
              </a:rPr>
              <a:t>Tudo tem prazo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65727E"/>
                </a:solidFill>
                <a:latin typeface="Arial"/>
              </a:rPr>
              <a:t>expira em 6 meses · remoção em 72 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7200" y="54864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65727E"/>
                </a:solidFill>
                <a:latin typeface="Arial"/>
              </a:rPr>
              <a:t>Rosto é dado pessoal sensível — LGPD, Art. 5º, II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" name="TextShape 2"/>
          <p:cNvSpPr txBox="1"/>
          <p:nvPr/>
        </p:nvSpPr>
        <p:spPr>
          <a:xfrm>
            <a:off x="457200" y="73152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trike="noStrike" spc="-1" dirty="0">
                <a:solidFill>
                  <a:srgbClr val="000000"/>
                </a:solidFill>
                <a:latin typeface="Segoe UI Semibold"/>
                <a:ea typeface="Trebuchet MS"/>
              </a:rPr>
              <a:t>Próximos passos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457200" y="164592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7DC5"/>
                </a:solidFill>
                <a:latin typeface="Arial"/>
              </a:rPr>
              <a:t>Para fechar o TCC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63440" y="1645920"/>
            <a:ext cx="4023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5727E"/>
                </a:solidFill>
                <a:latin typeface="Arial"/>
              </a:rPr>
              <a:t>Depois, na implantação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57200" y="205740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1792" y="2130552"/>
            <a:ext cx="3703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2D44"/>
                </a:solidFill>
                <a:latin typeface="Arial"/>
              </a:rPr>
              <a:t>4c · Remoções e uso atípico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4B5966"/>
                </a:solidFill>
                <a:latin typeface="Arial"/>
              </a:rPr>
              <a:t>Tela de pedidos do administrador, alerta de abuso e relatório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57200" y="30175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1792" y="3090672"/>
            <a:ext cx="3703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2D44"/>
                </a:solidFill>
                <a:latin typeface="Arial"/>
              </a:rPr>
              <a:t>4d · Pessoas institucionais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4B5966"/>
                </a:solidFill>
                <a:latin typeface="Arial"/>
              </a:rPr>
              <a:t>Cadastro com autorização escrita e busca pelo nome (LGPD, Art. 11)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7200" y="3977639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1792" y="4050791"/>
            <a:ext cx="3703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2D44"/>
                </a:solidFill>
                <a:latin typeface="Arial"/>
              </a:rPr>
              <a:t>Plano B do reconhecimento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4B5966"/>
                </a:solidFill>
                <a:latin typeface="Arial"/>
              </a:rPr>
              <a:t>YuNet + SFace para troca planejada; se a IA falhar, só a busca pausa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57200" y="493776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E8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1792" y="5010912"/>
            <a:ext cx="3703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2D44"/>
                </a:solidFill>
                <a:latin typeface="Arial"/>
              </a:rPr>
              <a:t>Calibrar o limiar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4B5966"/>
                </a:solidFill>
                <a:latin typeface="Arial"/>
              </a:rPr>
              <a:t>Medir com mais pessoas antes de fixar o 0,30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663440" y="205740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4828031" y="2130552"/>
            <a:ext cx="3703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2D44"/>
                </a:solidFill>
                <a:latin typeface="Arial"/>
              </a:rPr>
              <a:t>Aplicativo móvel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4B5966"/>
                </a:solidFill>
                <a:latin typeface="Arial"/>
              </a:rPr>
              <a:t>Mesma base em Expo; a versão web veio primeiro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663440" y="301752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4828031" y="3090672"/>
            <a:ext cx="3703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2D44"/>
                </a:solidFill>
                <a:latin typeface="Arial"/>
              </a:rPr>
              <a:t>Implantação no CESMAC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4B5966"/>
                </a:solidFill>
                <a:latin typeface="Arial"/>
              </a:rPr>
              <a:t>Servidor e e-mail da instituição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663440" y="3977639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4828031" y="4050791"/>
            <a:ext cx="3703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2D44"/>
                </a:solidFill>
                <a:latin typeface="Arial"/>
              </a:rPr>
              <a:t>Licença do modelo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4B5966"/>
                </a:solidFill>
                <a:latin typeface="Arial"/>
              </a:rPr>
              <a:t>Licenciar o buffalo_l ou usar o plano B: decisão do CESMAC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" name="TextShape 2"/>
          <p:cNvSpPr txBox="1"/>
          <p:nvPr/>
        </p:nvSpPr>
        <p:spPr>
          <a:xfrm>
            <a:off x="457200" y="1197864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trike="noStrike" spc="-1" dirty="0">
                <a:solidFill>
                  <a:srgbClr val="000000"/>
                </a:solidFill>
                <a:latin typeface="Segoe UI Semibold"/>
                <a:ea typeface="Trebuchet MS"/>
              </a:rPr>
              <a:t>REFERÊNCIAS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457200" y="2011680"/>
            <a:ext cx="822960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Arial"/>
              </a:rPr>
              <a:t>NUNES, Thiago José Camêlo. </a:t>
            </a:r>
            <a:r>
              <a:rPr sz="1100" b="1" i="0">
                <a:solidFill>
                  <a:srgbClr val="000000"/>
                </a:solidFill>
                <a:latin typeface="Arial"/>
              </a:rPr>
              <a:t>Documento de requisitos</a:t>
            </a:r>
            <a:r>
              <a:rPr sz="1100" b="0" i="0">
                <a:solidFill>
                  <a:srgbClr val="000000"/>
                </a:solidFill>
                <a:latin typeface="Arial"/>
              </a:rPr>
              <a:t>: FOTOMAC — plataforma de acervo fotográfico de eventos com busca por reconhecimento facial. Versão 1.6. Maceió: Centro Universitário CESMAC, 2026.</a:t>
            </a:r>
          </a:p>
          <a:p>
            <a:pPr algn="l">
              <a:spcBef>
                <a:spcPts val="900"/>
              </a:spcBef>
            </a:pPr>
            <a:r>
              <a:rPr sz="1100" b="0" i="0">
                <a:solidFill>
                  <a:srgbClr val="000000"/>
                </a:solidFill>
                <a:latin typeface="Arial"/>
              </a:rPr>
              <a:t>NUNES, Thiago José Camêlo. </a:t>
            </a:r>
            <a:r>
              <a:rPr sz="1100" b="1" i="0">
                <a:solidFill>
                  <a:srgbClr val="000000"/>
                </a:solidFill>
                <a:latin typeface="Arial"/>
              </a:rPr>
              <a:t>fotomac-lab</a:t>
            </a:r>
            <a:r>
              <a:rPr sz="1100" b="0" i="0">
                <a:solidFill>
                  <a:srgbClr val="000000"/>
                </a:solidFill>
                <a:latin typeface="Arial"/>
              </a:rPr>
              <a:t>: Teste 1 — comparação de tecnologias de reconhecimento facial. Maceió, 2026. Relatório técnico.</a:t>
            </a:r>
          </a:p>
          <a:p>
            <a:pPr algn="l">
              <a:spcBef>
                <a:spcPts val="900"/>
              </a:spcBef>
            </a:pPr>
            <a:r>
              <a:rPr sz="1100" b="0" i="0">
                <a:solidFill>
                  <a:srgbClr val="000000"/>
                </a:solidFill>
                <a:latin typeface="Arial"/>
              </a:rPr>
              <a:t>OPENCV. </a:t>
            </a:r>
            <a:r>
              <a:rPr sz="1100" b="1" i="0">
                <a:solidFill>
                  <a:srgbClr val="000000"/>
                </a:solidFill>
                <a:latin typeface="Arial"/>
              </a:rPr>
              <a:t>OpenCV Zoo</a:t>
            </a:r>
            <a:r>
              <a:rPr sz="1100" b="0" i="0">
                <a:solidFill>
                  <a:srgbClr val="000000"/>
                </a:solidFill>
                <a:latin typeface="Arial"/>
              </a:rPr>
              <a:t>: modelos YuNet e SFace. [S. l.], 2026. Disponível em: https://github.com/opencv/opencv_zoo. Acesso em: 11 out. 2026.</a:t>
            </a:r>
          </a:p>
          <a:p>
            <a:pPr algn="l">
              <a:spcBef>
                <a:spcPts val="900"/>
              </a:spcBef>
            </a:pPr>
            <a:r>
              <a:rPr sz="1100" b="0" i="0">
                <a:solidFill>
                  <a:srgbClr val="000000"/>
                </a:solidFill>
                <a:latin typeface="Arial"/>
              </a:rPr>
              <a:t>POSTGRESQL GLOBAL DEVELOPMENT GROUP. </a:t>
            </a:r>
            <a:r>
              <a:rPr sz="1100" b="1" i="0">
                <a:solidFill>
                  <a:srgbClr val="000000"/>
                </a:solidFill>
                <a:latin typeface="Arial"/>
              </a:rPr>
              <a:t>PostgreSQL</a:t>
            </a:r>
            <a:r>
              <a:rPr sz="1100" b="0" i="0">
                <a:solidFill>
                  <a:srgbClr val="000000"/>
                </a:solidFill>
                <a:latin typeface="Arial"/>
              </a:rPr>
              <a:t>. [S. l.], 2026. Disponível em: https://www.postgresql.org. Acesso em: 11 out. 2026.</a:t>
            </a:r>
          </a:p>
          <a:p>
            <a:pPr algn="l">
              <a:spcBef>
                <a:spcPts val="900"/>
              </a:spcBef>
            </a:pPr>
            <a:r>
              <a:rPr sz="1100" b="0" i="0">
                <a:solidFill>
                  <a:srgbClr val="000000"/>
                </a:solidFill>
                <a:latin typeface="Arial"/>
              </a:rPr>
              <a:t>RAMÍREZ, Sebastián. </a:t>
            </a:r>
            <a:r>
              <a:rPr sz="1100" b="1" i="0">
                <a:solidFill>
                  <a:srgbClr val="000000"/>
                </a:solidFill>
                <a:latin typeface="Arial"/>
              </a:rPr>
              <a:t>FastAPI</a:t>
            </a:r>
            <a:r>
              <a:rPr sz="1100" b="0" i="0">
                <a:solidFill>
                  <a:srgbClr val="000000"/>
                </a:solidFill>
                <a:latin typeface="Arial"/>
              </a:rPr>
              <a:t>. [S. l.], 2026. Disponível em: https://fastapi.tiangolo.com. Acesso em: 11 out. 2026.</a:t>
            </a:r>
          </a:p>
          <a:p>
            <a:pPr algn="l">
              <a:spcBef>
                <a:spcPts val="900"/>
              </a:spcBef>
            </a:pPr>
            <a:r>
              <a:rPr sz="1100" b="0" i="0">
                <a:solidFill>
                  <a:srgbClr val="000000"/>
                </a:solidFill>
                <a:latin typeface="Arial"/>
              </a:rPr>
              <a:t>SEAWEEDFS. </a:t>
            </a:r>
            <a:r>
              <a:rPr sz="1100" b="1" i="0">
                <a:solidFill>
                  <a:srgbClr val="000000"/>
                </a:solidFill>
                <a:latin typeface="Arial"/>
              </a:rPr>
              <a:t>SeaweedFS</a:t>
            </a:r>
            <a:r>
              <a:rPr sz="1100" b="0" i="0">
                <a:solidFill>
                  <a:srgbClr val="000000"/>
                </a:solidFill>
                <a:latin typeface="Arial"/>
              </a:rPr>
              <a:t>. [S. l.], 2026. Disponível em: https://github.com/seaweedfs/seaweedfs. Acesso em: 11 out. 2026.</a:t>
            </a:r>
          </a:p>
          <a:p>
            <a:pPr algn="l">
              <a:spcBef>
                <a:spcPts val="900"/>
              </a:spcBef>
            </a:pPr>
            <a:r>
              <a:rPr sz="1100" b="0" i="0">
                <a:solidFill>
                  <a:srgbClr val="000000"/>
                </a:solidFill>
                <a:latin typeface="Arial"/>
              </a:rPr>
              <a:t>WILL IT RUN AI. </a:t>
            </a:r>
            <a:r>
              <a:rPr sz="1100" b="1" i="0">
                <a:solidFill>
                  <a:srgbClr val="000000"/>
                </a:solidFill>
                <a:latin typeface="Arial"/>
              </a:rPr>
              <a:t>Can Llama 3.2 11B Vision run on RTX 3060 12GB?</a:t>
            </a:r>
            <a:r>
              <a:rPr sz="1100" b="0" i="0">
                <a:solidFill>
                  <a:srgbClr val="000000"/>
                </a:solidFill>
                <a:latin typeface="Arial"/>
              </a:rPr>
              <a:t> [S. l.], 2026. Disponível em: https://willitrunai.com/can-run/llama-3.2-11b-vision-on-rtx-3060-12gb. Acesso em: 11 out. 2026.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" name="TextShape 2"/>
          <p:cNvSpPr txBox="1"/>
          <p:nvPr/>
        </p:nvSpPr>
        <p:spPr>
          <a:xfrm>
            <a:off x="457200" y="731520"/>
            <a:ext cx="8229240" cy="7246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/>
          <a:lstStyle/>
          <a:p>
            <a:pPr algn="ctr">
              <a:lnSpc>
                <a:spcPct val="100000"/>
              </a:lnSpc>
            </a:pPr>
            <a:r>
              <a:rPr lang="pt-BR" sz="4400" b="1" strike="noStrike" spc="-1" dirty="0">
                <a:solidFill>
                  <a:srgbClr val="000000"/>
                </a:solidFill>
                <a:latin typeface="Segoe UI Semibold"/>
                <a:ea typeface="Trebuchet MS"/>
              </a:rPr>
              <a:t>Apêndice: como licenciar</a:t>
            </a:r>
            <a:endParaRPr lang="pt-BR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Picture 91" descr="Captura de tela contato corporativo (representação de como fazer o contato com a empresa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4204280" cy="356616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457200" y="5413248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5727E"/>
                </a:solidFill>
                <a:latin typeface="Arial"/>
              </a:rPr>
              <a:t>insightface.ai: formulário de consulta corporativa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937760" y="182880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2D44"/>
                </a:solidFill>
                <a:latin typeface="Arial"/>
              </a:rPr>
              <a:t>Pedido de licença do buffalo_l</a:t>
            </a:r>
          </a:p>
          <a:p>
            <a:pPr algn="l">
              <a:spcBef>
                <a:spcPts val="200"/>
              </a:spcBef>
            </a:pPr>
            <a:r>
              <a:rPr sz="1200" b="1" i="0">
                <a:solidFill>
                  <a:srgbClr val="007DC5"/>
                </a:solidFill>
                <a:latin typeface="Arial"/>
              </a:rPr>
              <a:t>recognition-oss-pack@insightface.ai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37760" y="274320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2D44"/>
                </a:solidFill>
                <a:latin typeface="Arial"/>
              </a:rPr>
              <a:t>Preço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4B5966"/>
                </a:solidFill>
                <a:latin typeface="Arial"/>
              </a:rPr>
              <a:t>não é público: sob consulta, negociado pela instituição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37760" y="361188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2D44"/>
                </a:solidFill>
                <a:latin typeface="Arial"/>
              </a:rPr>
              <a:t>Precedente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4B5966"/>
                </a:solidFill>
                <a:latin typeface="Arial"/>
              </a:rPr>
              <a:t>a Montala (ResourceSpace, sistema de acervo de imagens) comprou licença perpétua do buffalo_l para os seus clientes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937760" y="470916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72D44"/>
                </a:solidFill>
                <a:latin typeface="Arial"/>
              </a:rPr>
              <a:t>Se não licenciar</a:t>
            </a:r>
          </a:p>
          <a:p>
            <a:pPr algn="l">
              <a:spcBef>
                <a:spcPts val="200"/>
              </a:spcBef>
            </a:pPr>
            <a:r>
              <a:rPr sz="1200" b="0" i="0">
                <a:solidFill>
                  <a:srgbClr val="4B5966"/>
                </a:solidFill>
                <a:latin typeface="Arial"/>
              </a:rPr>
              <a:t>troca pelo YuNet + SFace e reindexa o acervo; a reindexação já existe (etapa 4b)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3F71F19FE9494DB43BA52CAB15BA66" ma:contentTypeVersion="3" ma:contentTypeDescription="Crie um novo documento." ma:contentTypeScope="" ma:versionID="8bec0465c7501cd3d888f6be2610cb67">
  <xsd:schema xmlns:xsd="http://www.w3.org/2001/XMLSchema" xmlns:xs="http://www.w3.org/2001/XMLSchema" xmlns:p="http://schemas.microsoft.com/office/2006/metadata/properties" xmlns:ns2="e4279828-8913-4115-a634-e4e0c35d7dd2" targetNamespace="http://schemas.microsoft.com/office/2006/metadata/properties" ma:root="true" ma:fieldsID="54a7b67f5dae4317cf9a3a02e67cce70" ns2:_="">
    <xsd:import namespace="e4279828-8913-4115-a634-e4e0c35d7d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279828-8913-4115-a634-e4e0c35d7d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8FE693-0D74-485B-8764-0BC9E2AACFD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17936A-8554-47B6-9C0A-00A2652E408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23DAB35-E2BD-4363-88E3-79B23582A1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279828-8913-4115-a634-e4e0c35d7d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</TotalTime>
  <Words>337</Words>
  <Application>Microsoft Office PowerPoint</Application>
  <PresentationFormat>Apresentação na tela (4:3)</PresentationFormat>
  <Paragraphs>98</Paragraphs>
  <Slides>10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2" baseType="lpstr">
      <vt:lpstr>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Nathalia de Lima Santos</dc:creator>
  <dc:description/>
  <cp:lastModifiedBy>Carlos W. Gama</cp:lastModifiedBy>
  <cp:revision>85</cp:revision>
  <dcterms:modified xsi:type="dcterms:W3CDTF">2026-10-11T22:28:41Z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1</vt:i4>
  </property>
  <property fmtid="{D5CDD505-2E9C-101B-9397-08002B2CF9AE}" pid="7" name="Notes">
    <vt:i4>10</vt:i4>
  </property>
  <property fmtid="{D5CDD505-2E9C-101B-9397-08002B2CF9AE}" pid="8" name="PresentationFormat">
    <vt:lpwstr>Apresentação na tela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10</vt:i4>
  </property>
  <property fmtid="{D5CDD505-2E9C-101B-9397-08002B2CF9AE}" pid="12" name="ContentTypeId">
    <vt:lpwstr>0x010100BB3F71F19FE9494DB43BA52CAB15BA66</vt:lpwstr>
  </property>
</Properties>
</file>